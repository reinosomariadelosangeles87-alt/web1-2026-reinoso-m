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5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Cumbre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versiones, despliegue y proyecto practico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sabes construir. Este modulo es sobre trabajar en equipo sin pisarse, publicar sin romper nada y medir en lugar de suponer.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16 a 18.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778240" y="1051560"/>
            <a:ext cx="2743200" cy="1691640"/>
          </a:xfrm>
          <a:prstGeom prst="roundRect">
            <a:avLst>
              <a:gd name="adj" fmla="val 6486"/>
            </a:avLst>
          </a:prstGeom>
          <a:solidFill>
            <a:srgbClr val="2E2E5C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778240" y="12070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15400" y="1536192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 teoricas</a:t>
            </a:r>
            <a:endParaRPr lang="en-US" sz="125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 practicas</a:t>
            </a:r>
            <a:endParaRPr lang="en-US" sz="125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h autonomas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59436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Caldas  ·  Programacion Web 1 (235G8F)  ·  Semestre 2026-2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 16 · GIT Y PULL REQUESTS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flujo de trabajo que ya usas</a:t>
            </a:r>
            <a:endParaRPr lang="en-US" sz="3000" dirty="0"/>
          </a:p>
        </p:txBody>
      </p:sp>
      <p:pic>
        <p:nvPicPr>
          <p:cNvPr id="4" name="Image 0" descr="/sessions/relaxed-eloquent-cori/mnt/Web 1/recursos/d09-git-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325880"/>
            <a:ext cx="10332720" cy="3749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5349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mismo flujo que has usado en cada mision desde la sesion 1. Ahora vamos a lo que falta: conflictos y revision.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 16 · EJERCICIO EN PAREJAS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Resolver un conflicto de verdad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0F0F1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 significa esto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984248"/>
            <a:ext cx="502920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&lt;&lt;&lt;&lt;&lt;&lt;&lt; HEAD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VIDA_INICIAL = 100;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VIDA_INICIAL = 120;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&gt;&gt;&gt;&gt;&gt;&gt;&gt; feat/balance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Git NO sabe cual es correcta.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Solo te dice que ustedes dos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cambiaron la misma linea.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09360" y="1508760"/>
            <a:ext cx="5303520" cy="914400"/>
          </a:xfrm>
          <a:prstGeom prst="roundRect">
            <a:avLst>
              <a:gd name="adj" fmla="val 9000"/>
            </a:avLst>
          </a:prstGeom>
          <a:solidFill>
            <a:srgbClr val="FF4D6D"/>
          </a:solidFill>
          <a:ln/>
        </p:spPr>
      </p:sp>
      <p:sp>
        <p:nvSpPr>
          <p:cNvPr id="8" name="Text 6"/>
          <p:cNvSpPr/>
          <p:nvPr/>
        </p:nvSpPr>
        <p:spPr>
          <a:xfrm>
            <a:off x="6565392" y="1636776"/>
            <a:ext cx="4791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se hace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565392" y="1965960"/>
            <a:ext cx="4791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Borrar el cambio del otro para que compile. Acabas de deshacer su trabajo sin avisarle.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2569464"/>
            <a:ext cx="5303520" cy="914400"/>
          </a:xfrm>
          <a:prstGeom prst="roundRect">
            <a:avLst>
              <a:gd name="adj" fmla="val 9000"/>
            </a:avLst>
          </a:prstGeom>
          <a:solidFill>
            <a:srgbClr val="4ECDC4"/>
          </a:solidFill>
          <a:ln/>
        </p:spPr>
      </p:sp>
      <p:sp>
        <p:nvSpPr>
          <p:cNvPr id="11" name="Text 9"/>
          <p:cNvSpPr/>
          <p:nvPr/>
        </p:nvSpPr>
        <p:spPr>
          <a:xfrm>
            <a:off x="6565392" y="2697480"/>
            <a:ext cx="4791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si se hace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65392" y="3026664"/>
            <a:ext cx="4791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Hablar con quien hizo el otro cambio. El conflicto es una conversacion pendiente, no un problema tecnico.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3630168"/>
            <a:ext cx="5303520" cy="914400"/>
          </a:xfrm>
          <a:prstGeom prst="roundRect">
            <a:avLst>
              <a:gd name="adj" fmla="val 9000"/>
            </a:avLst>
          </a:prstGeom>
          <a:solidFill>
            <a:srgbClr val="FFD166"/>
          </a:solidFill>
          <a:ln/>
        </p:spPr>
      </p:sp>
      <p:sp>
        <p:nvSpPr>
          <p:cNvPr id="14" name="Text 12"/>
          <p:cNvSpPr/>
          <p:nvPr/>
        </p:nvSpPr>
        <p:spPr>
          <a:xfrm>
            <a:off x="6565392" y="3758184"/>
            <a:ext cx="4791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evita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65392" y="4087368"/>
            <a:ext cx="4791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Ramas cortas y sincronizar con main seguido. Un conflicto de dos semanas es mucho peor que uno de dos horas.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16162E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690872"/>
            <a:ext cx="10424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clase les provoco un conflicto a proposito, en parejas. La primera vez que te pasa en un proyecto real conviene que no sea la primera vez.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 16 · PRACTICA PROFESIONAL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Revisar codigo sin ser desagradable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2E2E5C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728216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 el codigo, no a la persona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49808" y="2221992"/>
            <a:ext cx="21579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'Esta funcion muta el arreglo de entrada' en lugar de 'no entendiste inmutabilidad'. Lo primero se puede arreglar; lo segundo solo ofende.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50876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2E2E5C"/>
          </a:solidFill>
          <a:ln/>
        </p:spPr>
      </p:sp>
      <p:sp>
        <p:nvSpPr>
          <p:cNvPr id="8" name="Text 6"/>
          <p:cNvSpPr/>
          <p:nvPr/>
        </p:nvSpPr>
        <p:spPr>
          <a:xfrm>
            <a:off x="3584448" y="1728216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Distingue regla de preferencia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584448" y="2221992"/>
            <a:ext cx="21579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algo es cuestion de gusto, dilo. 'Yo lo escribiria distinto, pero funciona' es un comentario honesto y util.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50876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2E2E5C"/>
          </a:solidFill>
          <a:ln/>
        </p:spPr>
      </p:sp>
      <p:sp>
        <p:nvSpPr>
          <p:cNvPr id="11" name="Text 9"/>
          <p:cNvSpPr/>
          <p:nvPr/>
        </p:nvSpPr>
        <p:spPr>
          <a:xfrm>
            <a:off x="6419088" y="1728216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antes de afirmar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19088" y="2221992"/>
            <a:ext cx="21579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'Que pasa si el arreglo llega vacio?' descubre mas que 'esto falla con arreglos vacios', y a veces la respuesta es que ya lo manejaste.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52560" y="150876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2E2E5C"/>
          </a:solidFill>
          <a:ln/>
        </p:spPr>
      </p:sp>
      <p:sp>
        <p:nvSpPr>
          <p:cNvPr id="14" name="Text 12"/>
          <p:cNvSpPr/>
          <p:nvPr/>
        </p:nvSpPr>
        <p:spPr>
          <a:xfrm>
            <a:off x="9253728" y="1728216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 lo bueno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253728" y="2221992"/>
            <a:ext cx="21579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alguien resolvio algo con elegancia, dilo. Una revision que solo senala fallos ensena menos y desmotiva.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4ECDC4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187952"/>
            <a:ext cx="10424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cuatro auditorias cruzadas del semestre valen 100 XP y evidencian el RA 3. Califico la calidad de TU revision, no del codigo revisado.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5120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GitHub Docs, About pull requests · Chacon &amp; Straub, Pro Git (2a ed.)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 17 · PERSISTENCIA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Guardar datos en el cliente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577840" cy="960120"/>
          </a:xfrm>
          <a:prstGeom prst="roundRect">
            <a:avLst>
              <a:gd name="adj" fmla="val 8571"/>
            </a:avLst>
          </a:prstGeom>
          <a:solidFill>
            <a:srgbClr val="4ECDC4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636776"/>
            <a:ext cx="5065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04672" y="1965960"/>
            <a:ext cx="50657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Texto, ~5 MB, persiste siempre. Para preferencias y partidas guardadas simples.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615184"/>
            <a:ext cx="5577840" cy="960120"/>
          </a:xfrm>
          <a:prstGeom prst="roundRect">
            <a:avLst>
              <a:gd name="adj" fmla="val 8571"/>
            </a:avLst>
          </a:prstGeom>
          <a:solidFill>
            <a:srgbClr val="FFD166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743200"/>
            <a:ext cx="5065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sessionStorage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04672" y="3072384"/>
            <a:ext cx="50657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pero se borra al cerrar la pestana. Para estado temporal y caches de sesion.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721608"/>
            <a:ext cx="5577840" cy="960120"/>
          </a:xfrm>
          <a:prstGeom prst="roundRect">
            <a:avLst>
              <a:gd name="adj" fmla="val 8571"/>
            </a:avLst>
          </a:prstGeom>
          <a:solidFill>
            <a:srgbClr val="FF4D6D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849624"/>
            <a:ext cx="5065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04672" y="4178808"/>
            <a:ext cx="50657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real en el navegador. Objetos, indices, transacciones, cientos de MB.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508760"/>
            <a:ext cx="5212080" cy="3017520"/>
          </a:xfrm>
          <a:prstGeom prst="roundRect">
            <a:avLst>
              <a:gd name="adj" fmla="val 2424"/>
            </a:avLst>
          </a:prstGeom>
          <a:solidFill>
            <a:srgbClr val="0F0F1F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1645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patron y su trampa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29400" y="1984248"/>
            <a:ext cx="475488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localStorage guarda SOLO texto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localStorage.setItem('partida',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JSON.stringify(estado));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guardado = JSON.parse(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localStorage.getItem('partida') ?? 'null'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Y es SINCRONO: guardar 2 MB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congela la interfaz. Para eso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8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esta IndexedDB, que es asincrona.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FF4D6D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782312"/>
            <a:ext cx="10424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guardes ahi contrasenas, tokens de sesion ni datos personales sensibles: cualquier script de la pagina puede leerlo.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 17 · CI/CD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pipeline que ya te esta calificando</a:t>
            </a:r>
            <a:endParaRPr lang="en-US" sz="3000" dirty="0"/>
          </a:p>
        </p:txBody>
      </p:sp>
      <p:pic>
        <p:nvPicPr>
          <p:cNvPr id="4" name="Image 0" descr="/sessions/relaxed-eloquent-cori/mnt/Web 1/recursos/d10-cic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325880"/>
            <a:ext cx="1033272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5166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mismo workflow de GitHub Actions que valida tus entregas desde la sesion 1.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 18 · CORE WEB VITALS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Medir en lugar de suponer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05200" cy="2011680"/>
          </a:xfrm>
          <a:prstGeom prst="roundRect">
            <a:avLst>
              <a:gd name="adj" fmla="val 4545"/>
            </a:avLst>
          </a:prstGeom>
          <a:solidFill>
            <a:srgbClr val="4ECDC4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728216"/>
            <a:ext cx="3102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LCP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49808" y="2221992"/>
            <a:ext cx="3102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Contentful Paint. Cuanto tarda en aparecer el elemento mas grande. Bueno: menos de 2.5 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28160" y="1508760"/>
            <a:ext cx="3505200" cy="2011680"/>
          </a:xfrm>
          <a:prstGeom prst="roundRect">
            <a:avLst>
              <a:gd name="adj" fmla="val 4545"/>
            </a:avLst>
          </a:prstGeom>
          <a:solidFill>
            <a:srgbClr val="FFD166"/>
          </a:solidFill>
          <a:ln/>
        </p:spPr>
      </p:sp>
      <p:sp>
        <p:nvSpPr>
          <p:cNvPr id="8" name="Text 6"/>
          <p:cNvSpPr/>
          <p:nvPr/>
        </p:nvSpPr>
        <p:spPr>
          <a:xfrm>
            <a:off x="4529328" y="1728216"/>
            <a:ext cx="3102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29328" y="2221992"/>
            <a:ext cx="3102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to Next Paint. Cuanto tarda la pagina en responder a un clic. Bueno: menos de 200 ms.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07680" y="1508760"/>
            <a:ext cx="3505200" cy="2011680"/>
          </a:xfrm>
          <a:prstGeom prst="roundRect">
            <a:avLst>
              <a:gd name="adj" fmla="val 4545"/>
            </a:avLst>
          </a:prstGeom>
          <a:solidFill>
            <a:srgbClr val="FF4D6D"/>
          </a:solidFill>
          <a:ln/>
        </p:spPr>
      </p:sp>
      <p:sp>
        <p:nvSpPr>
          <p:cNvPr id="11" name="Text 9"/>
          <p:cNvSpPr/>
          <p:nvPr/>
        </p:nvSpPr>
        <p:spPr>
          <a:xfrm>
            <a:off x="8308848" y="1728216"/>
            <a:ext cx="3102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308848" y="2221992"/>
            <a:ext cx="3102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Layout Shift. Cuanto se mueve el contenido mientras carga. Bueno: menos de 0.1.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7033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Lighthouse te da un numero del 1 al 100 y es tentador obsesionarse con el. No lo hagas: el numero es un resumen de estas metricas, y lo util es leer QUE recomienda arreglar, no perseguir el 100.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16162E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782312"/>
            <a:ext cx="10424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proyecto final los tres en verde habilitan la insignia de Velocista. Fuente: Google, Web Vitals (web.dev).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MISION 08 · EQUIPOS DE TRES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Proyecto final: los requisitos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3246120"/>
          </a:xfrm>
          <a:prstGeom prst="roundRect">
            <a:avLst>
              <a:gd name="adj" fmla="val 2817"/>
            </a:avLst>
          </a:prstGeom>
          <a:solidFill>
            <a:srgbClr val="2E2E5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276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TECNICOS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con TypeScript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complejo bien manejado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real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menos una API externa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 de un servicio de IA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Accesibilidad verificada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Web Vitals en verde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CI/CD activo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94960" cy="3246120"/>
          </a:xfrm>
          <a:prstGeom prst="roundRect">
            <a:avLst>
              <a:gd name="adj" fmla="val 2817"/>
            </a:avLst>
          </a:prstGeom>
          <a:solidFill>
            <a:srgbClr val="2E2E5C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16276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PROCESO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46520" y="196596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integrante con commits verificables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por Pull Request con revision de un companero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de tareas visible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AUDITORIA.md: que genero la IA, que estaba mal, como lo corrigieron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89204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FF4D6D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965192"/>
            <a:ext cx="10424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requisitos de proceso importan igual que los tecnicos. Un juego perfecto con un solo commit de una sola persona no aprueba.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 18 Y SEMANA DE FINALES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sustentacion: 20 minutos, 110 XP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577840" cy="841248"/>
          </a:xfrm>
          <a:prstGeom prst="roundRect">
            <a:avLst>
              <a:gd name="adj" fmla="val 9783"/>
            </a:avLst>
          </a:prstGeom>
          <a:solidFill>
            <a:srgbClr val="F2F3F7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636776"/>
            <a:ext cx="5065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 · Demostracion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04672" y="1965960"/>
            <a:ext cx="5065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Jugando en vivo. Que se vea funcionando, no capturas de pantalla.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5577840" cy="841248"/>
          </a:xfrm>
          <a:prstGeom prst="roundRect">
            <a:avLst>
              <a:gd name="adj" fmla="val 9783"/>
            </a:avLst>
          </a:prstGeom>
          <a:solidFill>
            <a:srgbClr val="F2F3F7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596896"/>
            <a:ext cx="5065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 · Arquitectura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04672" y="2926080"/>
            <a:ext cx="5065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eligieron cada estrategia de renderizado, donde vive el estado y por que.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5577840" cy="841248"/>
          </a:xfrm>
          <a:prstGeom prst="roundRect">
            <a:avLst>
              <a:gd name="adj" fmla="val 9783"/>
            </a:avLst>
          </a:prstGeom>
          <a:solidFill>
            <a:srgbClr val="F2F3F7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3557016"/>
            <a:ext cx="5065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 · Auditoria de IA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04672" y="3886200"/>
            <a:ext cx="5065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genero la IA, que estaba mal, como lo detectaron.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389120"/>
            <a:ext cx="5577840" cy="841248"/>
          </a:xfrm>
          <a:prstGeom prst="roundRect">
            <a:avLst>
              <a:gd name="adj" fmla="val 9783"/>
            </a:avLst>
          </a:prstGeom>
          <a:solidFill>
            <a:srgbClr val="F2F3F7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4517136"/>
            <a:ext cx="5065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 · Preguntas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04672" y="4846320"/>
            <a:ext cx="5065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Pregunto a integrantes AL AZAR sobre cualquier parte del codigo.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0" y="157276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reparten los 110 XP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0" y="2057400"/>
            <a:ext cx="5212080" cy="402336"/>
          </a:xfrm>
          <a:prstGeom prst="roundRect">
            <a:avLst>
              <a:gd name="adj" fmla="val 13636"/>
            </a:avLst>
          </a:prstGeom>
          <a:solidFill>
            <a:srgbClr val="F2F3F7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05740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tecnico al responder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515600" y="205740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XP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2532888"/>
            <a:ext cx="5212080" cy="402336"/>
          </a:xfrm>
          <a:prstGeom prst="roundRect">
            <a:avLst>
              <a:gd name="adj" fmla="val 13636"/>
            </a:avLst>
          </a:prstGeom>
          <a:solidFill>
            <a:srgbClr val="F2F3F7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253288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de arquitectura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515600" y="253288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XP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3008376"/>
            <a:ext cx="5212080" cy="402336"/>
          </a:xfrm>
          <a:prstGeom prst="roundRect">
            <a:avLst>
              <a:gd name="adj" fmla="val 13636"/>
            </a:avLst>
          </a:prstGeom>
          <a:solidFill>
            <a:srgbClr val="F2F3F7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300837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 de la auditoria de IA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0515600" y="300837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XP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0" y="3483864"/>
            <a:ext cx="5212080" cy="402336"/>
          </a:xfrm>
          <a:prstGeom prst="roundRect">
            <a:avLst>
              <a:gd name="adj" fmla="val 13636"/>
            </a:avLst>
          </a:prstGeom>
          <a:solidFill>
            <a:srgbClr val="F2F3F7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348386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Claridad de la comunicacion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515600" y="348386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XP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0" y="3959352"/>
            <a:ext cx="5212080" cy="402336"/>
          </a:xfrm>
          <a:prstGeom prst="roundRect">
            <a:avLst>
              <a:gd name="adj" fmla="val 13636"/>
            </a:avLst>
          </a:prstGeom>
          <a:solidFill>
            <a:srgbClr val="F2F3F7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395935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de trabajo en equipo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0515600" y="395935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XP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470916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FFD166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" y="4782312"/>
            <a:ext cx="10424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Repartirse el trabajo sin entender lo que hizo el otro no funciona: los 40 XP mas grandes dependen de que cualquiera del equipo pueda explicar cualquier parte.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FF4D6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MISION 08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971800" y="38404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+ 110 XP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709160" y="384048"/>
            <a:ext cx="3200400" cy="502920"/>
          </a:xfrm>
          <a:prstGeom prst="roundRect">
            <a:avLst>
              <a:gd name="adj" fmla="val 18182"/>
            </a:avLst>
          </a:prstGeom>
          <a:solidFill>
            <a:srgbClr val="2E2E5C"/>
          </a:solidFill>
          <a:ln/>
        </p:spPr>
      </p:sp>
      <p:sp>
        <p:nvSpPr>
          <p:cNvPr id="6" name="Text 4"/>
          <p:cNvSpPr/>
          <p:nvPr/>
        </p:nvSpPr>
        <p:spPr>
          <a:xfrm>
            <a:off x="4709160" y="3840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 de trabajo autonomo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10241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Proyecto final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juego web completo, en equipos de tres, desplegado y funcionando. Es la culminacion de todo el semestre: usa las cinco zonas de la campana y se sustenta como un producto real, porque a estas alturas lo 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542032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2E2E5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97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DEBE TENER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035808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con TypeScript y estado complejo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Persistencia, API externa y servicio de IA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Accesibilidad y Core Web Vitals verificados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activo y desplegado en produccion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2542032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2E2E5C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697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20 XP ESPECIFICOS DEL MODULO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46520" y="3035808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verificables de cada integrante (25)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por PR con revision cruzada (25)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AUDITORIA.md completo y reflexivo (30)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de tareas con historial real (20)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512064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FFD16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193792"/>
            <a:ext cx="104241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MISION SECUNDARIA (+25 XP):  Multijugador local, o efectos de sonido accesibles con control de volumen.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CURSO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te llevas del semestre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05200" cy="2468880"/>
          </a:xfrm>
          <a:prstGeom prst="roundRect">
            <a:avLst>
              <a:gd name="adj" fmla="val 3704"/>
            </a:avLst>
          </a:prstGeom>
          <a:solidFill>
            <a:srgbClr val="FF4D6D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728216"/>
            <a:ext cx="3102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Nueve juegos desplegados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49808" y="2221992"/>
            <a:ext cx="31028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URL publica y codigo en GitHub. Es un portafolio real, no un certificado.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28160" y="1508760"/>
            <a:ext cx="3505200" cy="2468880"/>
          </a:xfrm>
          <a:prstGeom prst="roundRect">
            <a:avLst>
              <a:gd name="adj" fmla="val 3704"/>
            </a:avLst>
          </a:prstGeom>
          <a:solidFill>
            <a:srgbClr val="4ECDC4"/>
          </a:solidFill>
          <a:ln/>
        </p:spPr>
      </p:sp>
      <p:sp>
        <p:nvSpPr>
          <p:cNvPr id="8" name="Text 6"/>
          <p:cNvSpPr/>
          <p:nvPr/>
        </p:nvSpPr>
        <p:spPr>
          <a:xfrm>
            <a:off x="4529328" y="1728216"/>
            <a:ext cx="3102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habito de auditar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29328" y="2221992"/>
            <a:ext cx="31028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Nueve archivos IA.md donde documentaste errores de la maquina. Esa desconfianza informada es la competencia que mas va a valer.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07680" y="1508760"/>
            <a:ext cx="3505200" cy="2468880"/>
          </a:xfrm>
          <a:prstGeom prst="roundRect">
            <a:avLst>
              <a:gd name="adj" fmla="val 3704"/>
            </a:avLst>
          </a:prstGeom>
          <a:solidFill>
            <a:srgbClr val="FFD166"/>
          </a:solidFill>
          <a:ln/>
        </p:spPr>
      </p:sp>
      <p:sp>
        <p:nvSpPr>
          <p:cNvPr id="11" name="Text 9"/>
          <p:cNvSpPr/>
          <p:nvPr/>
        </p:nvSpPr>
        <p:spPr>
          <a:xfrm>
            <a:off x="8308848" y="1728216"/>
            <a:ext cx="3102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profesional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308848" y="2221992"/>
            <a:ext cx="31028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Ramas, PRs, revisiones, CI/CD. Llegas a tu primer trabajo sabiendo como se colabora de verdad.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420624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F2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tecnologia especifica de este curso va a cambiar. Next.js sera otra cosa en cinco anos y el modelo de lenguaje que uses sera mejor. Lo que no cambia es saber leer una especificacion, entender por que algo falla, y no aceptar codigo que no comprendes. Eso es lo que este curso queria dejarte.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58521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Caldas  ·  Programacion Web 1 (235G8F)  ·  Semestre 2026-2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DOCUMENTACION OFICIAL Y LITERATURA REVISADA POR PARES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Fuentes de este modulo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Chacon, S., &amp; Straub, B. · Pro Git (2a ed.)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184708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git-scm.com/book/en/v2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48640" y="223113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· About pull requests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596896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docs.github.com/en/pull-requests/reference/pull-requests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2980944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· Quickstart for GitHub Actions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346704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docs.github.com/en/actions/get-started/quickstart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373075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Commits 1.0.0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409651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conventionalcommits.org/en/v1.0.0/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4805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Preston-Werner, T. · Semantic Versioning 2.0.0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48463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semver.org/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172200" y="14813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 · Web Storage API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72200" y="184708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developer.mozilla.org/en-US/docs/Web/API/Web_Storage_API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172200" y="223113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 · IndexedDB API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172200" y="2596896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developer.mozilla.org/en-US/docs/Web/API/IndexedDB_API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172200" y="2980944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· Deployments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172200" y="3346704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vercel.com/docs/deployments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172200" y="373075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· Web Vitals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172200" y="409651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web.dev/articles/vitals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172200" y="44805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Denny et al. (2024) · Computing education in the era of generative AI. CACM 67(2), 56-67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172200" y="48463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doi.org/10.1145/3624720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enlaces y DOI verificados el 4 de agosto de 2026.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Programacion Web 1 - 235G8F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Universidad de Caldas</dc:creator>
  <cp:lastModifiedBy>Universidad de Caldas</cp:lastModifiedBy>
  <cp:revision>1</cp:revision>
  <dcterms:created xsi:type="dcterms:W3CDTF">2026-08-04T19:44:45Z</dcterms:created>
  <dcterms:modified xsi:type="dcterms:W3CDTF">2026-08-04T19:44:45Z</dcterms:modified>
</cp:coreProperties>
</file>