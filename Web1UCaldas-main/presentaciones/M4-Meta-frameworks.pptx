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2E"/>
        </a:solidFill>
      </p:bgPr>
    </p:bg>
    <p:spTree>
      <p:nvGrpSpPr>
        <p:cNvPr id="1" name=""/>
        <p:cNvGrpSpPr/>
        <p:nvPr/>
      </p:nvGrpSpPr>
      <p:grpSpPr>
        <a:xfrm>
          <a:off x="0" y="0"/>
          <a:ext cx="0" cy="0"/>
          <a:chOff x="0" y="0"/>
          <a:chExt cx="0" cy="0"/>
        </a:xfrm>
      </p:grpSpPr>
      <p:sp>
        <p:nvSpPr>
          <p:cNvPr id="2" name="Text 0"/>
          <p:cNvSpPr/>
          <p:nvPr/>
        </p:nvSpPr>
        <p:spPr>
          <a:xfrm>
            <a:off x="640080" y="685800"/>
            <a:ext cx="3657600" cy="365760"/>
          </a:xfrm>
          <a:prstGeom prst="rect">
            <a:avLst/>
          </a:prstGeom>
          <a:noFill/>
          <a:ln/>
        </p:spPr>
        <p:txBody>
          <a:bodyPr wrap="square" lIns="0" tIns="0" rIns="0" bIns="0" rtlCol="0" anchor="ctr"/>
          <a:lstStyle/>
          <a:p>
            <a:pPr indent="0" marL="0">
              <a:buNone/>
            </a:pPr>
            <a:r>
              <a:rPr lang="en-US" sz="1500" b="1" spc="300" kern="0" dirty="0">
                <a:solidFill>
                  <a:srgbClr val="FFD166"/>
                </a:solidFill>
                <a:latin typeface="Calibri" pitchFamily="34" charset="0"/>
                <a:ea typeface="Calibri" pitchFamily="34" charset="-122"/>
                <a:cs typeface="Calibri" pitchFamily="34" charset="-120"/>
              </a:rPr>
              <a:t>ZONA 4</a:t>
            </a:r>
            <a:endParaRPr lang="en-US" sz="1500" dirty="0"/>
          </a:p>
        </p:txBody>
      </p:sp>
      <p:sp>
        <p:nvSpPr>
          <p:cNvPr id="3" name="Text 1"/>
          <p:cNvSpPr/>
          <p:nvPr/>
        </p:nvSpPr>
        <p:spPr>
          <a:xfrm>
            <a:off x="640080" y="1051560"/>
            <a:ext cx="768096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La Fortaleza de Componentes</a:t>
            </a:r>
            <a:endParaRPr lang="en-US" sz="4000" dirty="0"/>
          </a:p>
        </p:txBody>
      </p:sp>
      <p:sp>
        <p:nvSpPr>
          <p:cNvPr id="4" name="Text 2"/>
          <p:cNvSpPr/>
          <p:nvPr/>
        </p:nvSpPr>
        <p:spPr>
          <a:xfrm>
            <a:off x="640080" y="1874520"/>
            <a:ext cx="7680960" cy="868680"/>
          </a:xfrm>
          <a:prstGeom prst="rect">
            <a:avLst/>
          </a:prstGeom>
          <a:noFill/>
          <a:ln/>
        </p:spPr>
        <p:txBody>
          <a:bodyPr wrap="square" lIns="0" tIns="0" rIns="0" bIns="0" rtlCol="0" anchor="t"/>
          <a:lstStyle/>
          <a:p>
            <a:pPr indent="0" marL="0">
              <a:buNone/>
            </a:pPr>
            <a:r>
              <a:rPr lang="en-US" sz="1900" b="1" dirty="0">
                <a:solidFill>
                  <a:srgbClr val="FF4D6D"/>
                </a:solidFill>
                <a:latin typeface="Calibri" pitchFamily="34" charset="0"/>
                <a:ea typeface="Calibri" pitchFamily="34" charset="-122"/>
                <a:cs typeface="Calibri" pitchFamily="34" charset="-120"/>
              </a:rPr>
              <a:t>Arquitectura de meta-frameworks y convergencia</a:t>
            </a:r>
            <a:endParaRPr lang="en-US" sz="1900" dirty="0"/>
          </a:p>
        </p:txBody>
      </p:sp>
      <p:sp>
        <p:nvSpPr>
          <p:cNvPr id="5" name="Text 3"/>
          <p:cNvSpPr/>
          <p:nvPr/>
        </p:nvSpPr>
        <p:spPr>
          <a:xfrm>
            <a:off x="640080" y="2880360"/>
            <a:ext cx="7315200" cy="1371600"/>
          </a:xfrm>
          <a:prstGeom prst="rect">
            <a:avLst/>
          </a:prstGeom>
          <a:noFill/>
          <a:ln/>
        </p:spPr>
        <p:txBody>
          <a:bodyPr wrap="square" lIns="0" tIns="0" rIns="0" bIns="0" rtlCol="0" anchor="t"/>
          <a:lstStyle/>
          <a:p>
            <a:pPr indent="0" marL="0">
              <a:lnSpc>
                <a:spcPts val="2200"/>
              </a:lnSpc>
              <a:buNone/>
            </a:pPr>
            <a:r>
              <a:rPr lang="en-US" sz="1350" dirty="0">
                <a:solidFill>
                  <a:srgbClr val="F2F3F7"/>
                </a:solidFill>
                <a:latin typeface="Calibri" pitchFamily="34" charset="0"/>
                <a:ea typeface="Calibri" pitchFamily="34" charset="-122"/>
                <a:cs typeface="Calibri" pitchFamily="34" charset="-120"/>
              </a:rPr>
              <a:t>Hasta aqui manipulaste el DOM a mano y ya sentiste el dolor: el estado repartido por todos lados, la interfaz que se desincroniza de los datos. React existe porque eso no escala.</a:t>
            </a:r>
            <a:endParaRPr lang="en-US" sz="1350" dirty="0"/>
          </a:p>
          <a:p>
            <a:pPr indent="0" marL="0">
              <a:lnSpc>
                <a:spcPts val="2200"/>
              </a:lnSpc>
              <a:buNone/>
            </a:pPr>
            <a:endParaRPr lang="en-US" sz="1350" dirty="0"/>
          </a:p>
          <a:p>
            <a:pPr indent="0" marL="0">
              <a:lnSpc>
                <a:spcPts val="2200"/>
              </a:lnSpc>
              <a:buNone/>
            </a:pPr>
            <a:r>
              <a:rPr lang="en-US" sz="1350" dirty="0">
                <a:solidFill>
                  <a:srgbClr val="F2F3F7"/>
                </a:solidFill>
                <a:latin typeface="Calibri" pitchFamily="34" charset="0"/>
                <a:ea typeface="Calibri" pitchFamily="34" charset="-122"/>
                <a:cs typeface="Calibri" pitchFamily="34" charset="-120"/>
              </a:rPr>
              <a:t>Sesiones 12 a 15.</a:t>
            </a:r>
            <a:endParaRPr lang="en-US" sz="1350" dirty="0"/>
          </a:p>
        </p:txBody>
      </p:sp>
      <p:sp>
        <p:nvSpPr>
          <p:cNvPr id="6" name="Shape 4"/>
          <p:cNvSpPr/>
          <p:nvPr/>
        </p:nvSpPr>
        <p:spPr>
          <a:xfrm>
            <a:off x="8778240" y="1051560"/>
            <a:ext cx="2743200" cy="1691640"/>
          </a:xfrm>
          <a:prstGeom prst="roundRect">
            <a:avLst>
              <a:gd name="adj" fmla="val 6486"/>
            </a:avLst>
          </a:prstGeom>
          <a:solidFill>
            <a:srgbClr val="2E2E5C"/>
          </a:solidFill>
          <a:ln/>
          <a:effectLst>
            <a:outerShdw sx="100000" sy="100000" kx="0" ky="0" algn="bl" rotWithShape="0" blurRad="152400" dist="38100" dir="5400000">
              <a:srgbClr val="000000">
                <a:alpha val="35000"/>
              </a:srgbClr>
            </a:outerShdw>
          </a:effectLst>
        </p:spPr>
      </p:sp>
      <p:sp>
        <p:nvSpPr>
          <p:cNvPr id="7" name="Text 5"/>
          <p:cNvSpPr/>
          <p:nvPr/>
        </p:nvSpPr>
        <p:spPr>
          <a:xfrm>
            <a:off x="8778240" y="1207008"/>
            <a:ext cx="2743200" cy="256032"/>
          </a:xfrm>
          <a:prstGeom prst="rect">
            <a:avLst/>
          </a:prstGeom>
          <a:noFill/>
          <a:ln/>
        </p:spPr>
        <p:txBody>
          <a:bodyPr wrap="square" lIns="0" tIns="0" rIns="0" bIns="0" rtlCol="0" anchor="ctr"/>
          <a:lstStyle/>
          <a:p>
            <a:pPr algn="ctr" indent="0" marL="0">
              <a:buNone/>
            </a:pPr>
            <a:r>
              <a:rPr lang="en-US" sz="1000" b="1" spc="150" kern="0" dirty="0">
                <a:solidFill>
                  <a:srgbClr val="FFD166"/>
                </a:solidFill>
                <a:latin typeface="Calibri" pitchFamily="34" charset="0"/>
                <a:ea typeface="Calibri" pitchFamily="34" charset="-122"/>
                <a:cs typeface="Calibri" pitchFamily="34" charset="-120"/>
              </a:rPr>
              <a:t>PRESUPUESTO</a:t>
            </a:r>
            <a:endParaRPr lang="en-US" sz="1000" dirty="0"/>
          </a:p>
        </p:txBody>
      </p:sp>
      <p:sp>
        <p:nvSpPr>
          <p:cNvPr id="8" name="Text 6"/>
          <p:cNvSpPr/>
          <p:nvPr/>
        </p:nvSpPr>
        <p:spPr>
          <a:xfrm>
            <a:off x="8915400" y="1536192"/>
            <a:ext cx="2468880" cy="1051560"/>
          </a:xfrm>
          <a:prstGeom prst="rect">
            <a:avLst/>
          </a:prstGeom>
          <a:noFill/>
          <a:ln/>
        </p:spPr>
        <p:txBody>
          <a:bodyPr wrap="square" lIns="0" tIns="0" rIns="0" bIns="0" rtlCol="0" anchor="t"/>
          <a:lstStyle/>
          <a:p>
            <a:pPr algn="ctr" indent="0" marL="0">
              <a:lnSpc>
                <a:spcPts val="1900"/>
              </a:lnSpc>
              <a:buNone/>
            </a:pPr>
            <a:r>
              <a:rPr lang="en-US" sz="1250" dirty="0">
                <a:solidFill>
                  <a:srgbClr val="FFFFFF"/>
                </a:solidFill>
                <a:latin typeface="Calibri" pitchFamily="34" charset="0"/>
                <a:ea typeface="Calibri" pitchFamily="34" charset="-122"/>
                <a:cs typeface="Calibri" pitchFamily="34" charset="-120"/>
              </a:rPr>
              <a:t>8 h teoricas</a:t>
            </a:r>
            <a:endParaRPr lang="en-US" sz="1250" dirty="0"/>
          </a:p>
          <a:p>
            <a:pPr algn="ctr" indent="0" marL="0">
              <a:lnSpc>
                <a:spcPts val="1900"/>
              </a:lnSpc>
              <a:buNone/>
            </a:pPr>
            <a:r>
              <a:rPr lang="en-US" sz="1250" dirty="0">
                <a:solidFill>
                  <a:srgbClr val="FFFFFF"/>
                </a:solidFill>
                <a:latin typeface="Calibri" pitchFamily="34" charset="0"/>
                <a:ea typeface="Calibri" pitchFamily="34" charset="-122"/>
                <a:cs typeface="Calibri" pitchFamily="34" charset="-120"/>
              </a:rPr>
              <a:t>8 h practicas</a:t>
            </a:r>
            <a:endParaRPr lang="en-US" sz="1250" dirty="0"/>
          </a:p>
          <a:p>
            <a:pPr algn="ctr" indent="0" marL="0">
              <a:lnSpc>
                <a:spcPts val="1900"/>
              </a:lnSpc>
              <a:buNone/>
            </a:pPr>
            <a:r>
              <a:rPr lang="en-US" sz="1250" dirty="0">
                <a:solidFill>
                  <a:srgbClr val="FFFFFF"/>
                </a:solidFill>
                <a:latin typeface="Calibri" pitchFamily="34" charset="0"/>
                <a:ea typeface="Calibri" pitchFamily="34" charset="-122"/>
                <a:cs typeface="Calibri" pitchFamily="34" charset="-120"/>
              </a:rPr>
              <a:t>16 h autonomas</a:t>
            </a:r>
            <a:endParaRPr lang="en-US" sz="1250" dirty="0"/>
          </a:p>
        </p:txBody>
      </p:sp>
      <p:sp>
        <p:nvSpPr>
          <p:cNvPr id="9" name="Text 7"/>
          <p:cNvSpPr/>
          <p:nvPr/>
        </p:nvSpPr>
        <p:spPr>
          <a:xfrm>
            <a:off x="640080" y="5943600"/>
            <a:ext cx="10881360" cy="274320"/>
          </a:xfrm>
          <a:prstGeom prst="rect">
            <a:avLst/>
          </a:prstGeom>
          <a:noFill/>
          <a:ln/>
        </p:spPr>
        <p:txBody>
          <a:bodyPr wrap="square" lIns="0" tIns="0" rIns="0" bIns="0" rtlCol="0" anchor="ctr"/>
          <a:lstStyle/>
          <a:p>
            <a:pPr indent="0" marL="0">
              <a:buNone/>
            </a:pPr>
            <a:r>
              <a:rPr lang="en-US" sz="1000" dirty="0">
                <a:solidFill>
                  <a:srgbClr val="8A8AA3"/>
                </a:solidFill>
                <a:latin typeface="Calibri" pitchFamily="34" charset="0"/>
                <a:ea typeface="Calibri" pitchFamily="34" charset="-122"/>
                <a:cs typeface="Calibri" pitchFamily="34" charset="-120"/>
              </a:rPr>
              <a:t>Universidad de Caldas  ·  Programacion Web 1 (235G8F)  ·  Semestre 2026-2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74320"/>
          </a:xfrm>
          <a:prstGeom prst="rect">
            <a:avLst/>
          </a:prstGeom>
          <a:noFill/>
          <a:ln/>
        </p:spPr>
        <p:txBody>
          <a:bodyPr wrap="square" lIns="0" tIns="0" rIns="0" bIns="0" rtlCol="0" anchor="ctr"/>
          <a:lstStyle/>
          <a:p>
            <a:pPr indent="0" marL="0">
              <a:buNone/>
            </a:pPr>
            <a:r>
              <a:rPr lang="en-US" sz="1100" b="1" spc="200" kern="0" dirty="0">
                <a:solidFill>
                  <a:srgbClr val="FF4D6D"/>
                </a:solidFill>
                <a:latin typeface="Calibri" pitchFamily="34" charset="0"/>
                <a:ea typeface="Calibri" pitchFamily="34" charset="-122"/>
                <a:cs typeface="Calibri" pitchFamily="34" charset="-120"/>
              </a:rPr>
              <a:t>SESION 12 · POR QUE CAMBIAR</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A1A2E"/>
                </a:solidFill>
                <a:latin typeface="Cambria" pitchFamily="34" charset="0"/>
                <a:ea typeface="Cambria" pitchFamily="34" charset="-122"/>
                <a:cs typeface="Cambria" pitchFamily="34" charset="-120"/>
              </a:rPr>
              <a:t>El problema que React resuelve</a:t>
            </a:r>
            <a:endParaRPr lang="en-US" sz="3000" dirty="0"/>
          </a:p>
        </p:txBody>
      </p:sp>
      <p:sp>
        <p:nvSpPr>
          <p:cNvPr id="4" name="Shape 2"/>
          <p:cNvSpPr/>
          <p:nvPr/>
        </p:nvSpPr>
        <p:spPr>
          <a:xfrm>
            <a:off x="548640" y="1508760"/>
            <a:ext cx="5669280" cy="3108960"/>
          </a:xfrm>
          <a:prstGeom prst="roundRect">
            <a:avLst>
              <a:gd name="adj" fmla="val 2353"/>
            </a:avLst>
          </a:prstGeom>
          <a:solidFill>
            <a:srgbClr val="0F0F1F"/>
          </a:solidFill>
          <a:ln/>
        </p:spPr>
      </p:sp>
      <p:sp>
        <p:nvSpPr>
          <p:cNvPr id="5" name="Text 3"/>
          <p:cNvSpPr/>
          <p:nvPr/>
        </p:nvSpPr>
        <p:spPr>
          <a:xfrm>
            <a:off x="777240" y="1645920"/>
            <a:ext cx="5212080" cy="274320"/>
          </a:xfrm>
          <a:prstGeom prst="rect">
            <a:avLst/>
          </a:prstGeom>
          <a:noFill/>
          <a:ln/>
        </p:spPr>
        <p:txBody>
          <a:bodyPr wrap="square" lIns="0" tIns="0" rIns="0" bIns="0" rtlCol="0" anchor="ctr"/>
          <a:lstStyle/>
          <a:p>
            <a:pPr indent="0" marL="0">
              <a:buNone/>
            </a:pPr>
            <a:r>
              <a:rPr lang="en-US" sz="1000" b="1" dirty="0">
                <a:solidFill>
                  <a:srgbClr val="FFD166"/>
                </a:solidFill>
                <a:latin typeface="Courier New" pitchFamily="34" charset="0"/>
                <a:ea typeface="Courier New" pitchFamily="34" charset="-122"/>
                <a:cs typeface="Courier New" pitchFamily="34" charset="-120"/>
              </a:rPr>
              <a:t>el dolor</a:t>
            </a:r>
            <a:endParaRPr lang="en-US" sz="1000" dirty="0"/>
          </a:p>
        </p:txBody>
      </p:sp>
      <p:sp>
        <p:nvSpPr>
          <p:cNvPr id="6" name="Text 4"/>
          <p:cNvSpPr/>
          <p:nvPr/>
        </p:nvSpPr>
        <p:spPr>
          <a:xfrm>
            <a:off x="777240" y="1984248"/>
            <a:ext cx="5212080" cy="2450592"/>
          </a:xfrm>
          <a:prstGeom prst="rect">
            <a:avLst/>
          </a:prstGeom>
          <a:noFill/>
          <a:ln/>
        </p:spPr>
        <p:txBody>
          <a:bodyPr wrap="square" lIns="0" tIns="0" rIns="0" bIns="0" rtlCol="0" anchor="t"/>
          <a:lstStyle/>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Tu memoria de la Mision 03:</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el estado vive en el DOM</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if (carta.classList.contains('volteada')) {</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contador.textContent = intentos + 1;</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if (document.querySelectorAll('.par')</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.length === 8) {</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mensaje.style.display = 'block';</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a:t>
            </a:r>
            <a:endParaRPr lang="en-US" sz="1050" dirty="0"/>
          </a:p>
          <a:p>
            <a:pPr indent="0" marL="0">
              <a:lnSpc>
                <a:spcPts val="1575"/>
              </a:lnSpc>
              <a:buNone/>
            </a:pP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Quien sabe cual es el estado real?</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El DOM. Y el DOM miente.</a:t>
            </a:r>
            <a:endParaRPr lang="en-US" sz="1050" dirty="0"/>
          </a:p>
        </p:txBody>
      </p:sp>
      <p:sp>
        <p:nvSpPr>
          <p:cNvPr id="7" name="Shape 5"/>
          <p:cNvSpPr/>
          <p:nvPr/>
        </p:nvSpPr>
        <p:spPr>
          <a:xfrm>
            <a:off x="6492240" y="1508760"/>
            <a:ext cx="5120640" cy="3108960"/>
          </a:xfrm>
          <a:prstGeom prst="roundRect">
            <a:avLst>
              <a:gd name="adj" fmla="val 2353"/>
            </a:avLst>
          </a:prstGeom>
          <a:solidFill>
            <a:srgbClr val="0F0F1F"/>
          </a:solidFill>
          <a:ln/>
        </p:spPr>
      </p:sp>
      <p:sp>
        <p:nvSpPr>
          <p:cNvPr id="8" name="Text 6"/>
          <p:cNvSpPr/>
          <p:nvPr/>
        </p:nvSpPr>
        <p:spPr>
          <a:xfrm>
            <a:off x="6720840" y="1645920"/>
            <a:ext cx="4663440" cy="274320"/>
          </a:xfrm>
          <a:prstGeom prst="rect">
            <a:avLst/>
          </a:prstGeom>
          <a:noFill/>
          <a:ln/>
        </p:spPr>
        <p:txBody>
          <a:bodyPr wrap="square" lIns="0" tIns="0" rIns="0" bIns="0" rtlCol="0" anchor="ctr"/>
          <a:lstStyle/>
          <a:p>
            <a:pPr indent="0" marL="0">
              <a:buNone/>
            </a:pPr>
            <a:r>
              <a:rPr lang="en-US" sz="1000" b="1" dirty="0">
                <a:solidFill>
                  <a:srgbClr val="FFD166"/>
                </a:solidFill>
                <a:latin typeface="Courier New" pitchFamily="34" charset="0"/>
                <a:ea typeface="Courier New" pitchFamily="34" charset="-122"/>
                <a:cs typeface="Courier New" pitchFamily="34" charset="-120"/>
              </a:rPr>
              <a:t>la solucion</a:t>
            </a:r>
            <a:endParaRPr lang="en-US" sz="1000" dirty="0"/>
          </a:p>
        </p:txBody>
      </p:sp>
      <p:sp>
        <p:nvSpPr>
          <p:cNvPr id="9" name="Text 7"/>
          <p:cNvSpPr/>
          <p:nvPr/>
        </p:nvSpPr>
        <p:spPr>
          <a:xfrm>
            <a:off x="6720840" y="1984248"/>
            <a:ext cx="4663440" cy="2450592"/>
          </a:xfrm>
          <a:prstGeom prst="rect">
            <a:avLst/>
          </a:prstGeom>
          <a:noFill/>
          <a:ln/>
        </p:spPr>
        <p:txBody>
          <a:bodyPr wrap="square" lIns="0" tIns="0" rIns="0" bIns="0" rtlCol="0" anchor="t"/>
          <a:lstStyle/>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Con React: el estado es la verdad,</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la interfaz es su consecuencia</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const [intentos, setIntentos] = useState(0);</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const [pares, setPares] = useState([]);</a:t>
            </a:r>
            <a:endParaRPr lang="en-US" sz="1050" dirty="0"/>
          </a:p>
          <a:p>
            <a:pPr indent="0" marL="0">
              <a:lnSpc>
                <a:spcPts val="1575"/>
              </a:lnSpc>
              <a:buNone/>
            </a:pP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return (</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&lt;&gt;</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&lt;p&gt;Intentos: {intentos}&lt;/p&gt;</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{pares.length === 8 &amp;&amp; &lt;Victoria /&gt;}</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&lt;/&gt;</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a:t>
            </a:r>
            <a:endParaRPr lang="en-US" sz="1050" dirty="0"/>
          </a:p>
        </p:txBody>
      </p:sp>
      <p:sp>
        <p:nvSpPr>
          <p:cNvPr id="10" name="Shape 8"/>
          <p:cNvSpPr/>
          <p:nvPr/>
        </p:nvSpPr>
        <p:spPr>
          <a:xfrm>
            <a:off x="548640" y="4846320"/>
            <a:ext cx="11064240" cy="777240"/>
          </a:xfrm>
          <a:prstGeom prst="roundRect">
            <a:avLst>
              <a:gd name="adj" fmla="val 10588"/>
            </a:avLst>
          </a:prstGeom>
          <a:solidFill>
            <a:srgbClr val="FFD166"/>
          </a:solidFill>
          <a:ln/>
        </p:spPr>
      </p:sp>
      <p:sp>
        <p:nvSpPr>
          <p:cNvPr id="11" name="Text 9"/>
          <p:cNvSpPr/>
          <p:nvPr/>
        </p:nvSpPr>
        <p:spPr>
          <a:xfrm>
            <a:off x="868680" y="4919472"/>
            <a:ext cx="10424160" cy="630936"/>
          </a:xfrm>
          <a:prstGeom prst="rect">
            <a:avLst/>
          </a:prstGeom>
          <a:noFill/>
          <a:ln/>
        </p:spPr>
        <p:txBody>
          <a:bodyPr wrap="square" lIns="0" tIns="0" rIns="0" bIns="0" rtlCol="0" anchor="ctr"/>
          <a:lstStyle/>
          <a:p>
            <a:pPr indent="0" marL="0">
              <a:lnSpc>
                <a:spcPts val="1688"/>
              </a:lnSpc>
              <a:buNone/>
            </a:pPr>
            <a:r>
              <a:rPr lang="en-US" sz="1250" b="1" dirty="0">
                <a:solidFill>
                  <a:srgbClr val="1A1A2E"/>
                </a:solidFill>
                <a:latin typeface="Calibri" pitchFamily="34" charset="0"/>
                <a:ea typeface="Calibri" pitchFamily="34" charset="-122"/>
                <a:cs typeface="Calibri" pitchFamily="34" charset="-120"/>
              </a:rPr>
              <a:t>Describes COMO SE VE la interfaz para un estado dado, y React se encarga de llegar ahi. Dejas de dar instrucciones paso a paso.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74320"/>
          </a:xfrm>
          <a:prstGeom prst="rect">
            <a:avLst/>
          </a:prstGeom>
          <a:noFill/>
          <a:ln/>
        </p:spPr>
        <p:txBody>
          <a:bodyPr wrap="square" lIns="0" tIns="0" rIns="0" bIns="0" rtlCol="0" anchor="ctr"/>
          <a:lstStyle/>
          <a:p>
            <a:pPr indent="0" marL="0">
              <a:buNone/>
            </a:pPr>
            <a:r>
              <a:rPr lang="en-US" sz="1100" b="1" spc="200" kern="0" dirty="0">
                <a:solidFill>
                  <a:srgbClr val="FF4D6D"/>
                </a:solidFill>
                <a:latin typeface="Calibri" pitchFamily="34" charset="0"/>
                <a:ea typeface="Calibri" pitchFamily="34" charset="-122"/>
                <a:cs typeface="Calibri" pitchFamily="34" charset="-120"/>
              </a:rPr>
              <a:t>SESION 12 · PROPS Y ESTADO</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A1A2E"/>
                </a:solidFill>
                <a:latin typeface="Cambria" pitchFamily="34" charset="0"/>
                <a:ea typeface="Cambria" pitchFamily="34" charset="-122"/>
                <a:cs typeface="Cambria" pitchFamily="34" charset="-120"/>
              </a:rPr>
              <a:t>Arbol de componentes y flujo de datos</a:t>
            </a:r>
            <a:endParaRPr lang="en-US" sz="3000" dirty="0"/>
          </a:p>
        </p:txBody>
      </p:sp>
      <p:pic>
        <p:nvPicPr>
          <p:cNvPr id="4" name="Image 0" descr="/sessions/relaxed-eloquent-cori/mnt/Web 1/recursos/d08-react-arbol.png">    </p:cNvPr>
          <p:cNvPicPr>
            <a:picLocks noChangeAspect="1"/>
          </p:cNvPicPr>
          <p:nvPr/>
        </p:nvPicPr>
        <p:blipFill>
          <a:blip r:embed="rId1"/>
          <a:srcRect l="0" r="0" t="0" b="0"/>
          <a:stretch/>
        </p:blipFill>
        <p:spPr>
          <a:xfrm>
            <a:off x="914400" y="1325880"/>
            <a:ext cx="10332720" cy="3840480"/>
          </a:xfrm>
          <a:prstGeom prst="rect">
            <a:avLst/>
          </a:prstGeom>
        </p:spPr>
      </p:pic>
      <p:sp>
        <p:nvSpPr>
          <p:cNvPr id="5" name="Text 2"/>
          <p:cNvSpPr/>
          <p:nvPr/>
        </p:nvSpPr>
        <p:spPr>
          <a:xfrm>
            <a:off x="822960" y="5440680"/>
            <a:ext cx="10515600" cy="365760"/>
          </a:xfrm>
          <a:prstGeom prst="rect">
            <a:avLst/>
          </a:prstGeom>
          <a:noFill/>
          <a:ln/>
        </p:spPr>
        <p:txBody>
          <a:bodyPr wrap="square" lIns="0" tIns="0" rIns="0" bIns="0" rtlCol="0" anchor="ctr"/>
          <a:lstStyle/>
          <a:p>
            <a:pPr algn="ctr" indent="0" marL="0">
              <a:buNone/>
            </a:pPr>
            <a:r>
              <a:rPr lang="en-US" sz="1050" i="1" dirty="0">
                <a:solidFill>
                  <a:srgbClr val="8A8AA3"/>
                </a:solidFill>
                <a:latin typeface="Calibri" pitchFamily="34" charset="0"/>
                <a:ea typeface="Calibri" pitchFamily="34" charset="-122"/>
                <a:cs typeface="Calibri" pitchFamily="34" charset="-120"/>
              </a:rPr>
              <a:t>Fuente: react.dev, Quick Start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62E"/>
        </a:solidFill>
      </p:bgPr>
    </p:bg>
    <p:spTree>
      <p:nvGrpSpPr>
        <p:cNvPr id="1" name=""/>
        <p:cNvGrpSpPr/>
        <p:nvPr/>
      </p:nvGrpSpPr>
      <p:grpSpPr>
        <a:xfrm>
          <a:off x="0" y="0"/>
          <a:ext cx="0" cy="0"/>
          <a:chOff x="0" y="0"/>
          <a:chExt cx="0" cy="0"/>
        </a:xfrm>
      </p:grpSpPr>
      <p:sp>
        <p:nvSpPr>
          <p:cNvPr id="2" name="Text 0"/>
          <p:cNvSpPr/>
          <p:nvPr/>
        </p:nvSpPr>
        <p:spPr>
          <a:xfrm>
            <a:off x="548640" y="292608"/>
            <a:ext cx="10515600" cy="274320"/>
          </a:xfrm>
          <a:prstGeom prst="rect">
            <a:avLst/>
          </a:prstGeom>
          <a:noFill/>
          <a:ln/>
        </p:spPr>
        <p:txBody>
          <a:bodyPr wrap="square" lIns="0" tIns="0" rIns="0" bIns="0" rtlCol="0" anchor="ctr"/>
          <a:lstStyle/>
          <a:p>
            <a:pPr indent="0" marL="0">
              <a:buNone/>
            </a:pPr>
            <a:r>
              <a:rPr lang="en-US" sz="1100" b="1" spc="200" kern="0" dirty="0">
                <a:solidFill>
                  <a:srgbClr val="FFD166"/>
                </a:solidFill>
                <a:latin typeface="Calibri" pitchFamily="34" charset="0"/>
                <a:ea typeface="Calibri" pitchFamily="34" charset="-122"/>
                <a:cs typeface="Calibri" pitchFamily="34" charset="-120"/>
              </a:rPr>
              <a:t>SESION 12 · LA DECISION MAS IMPORTANTE</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Donde vive el estado</a:t>
            </a:r>
            <a:endParaRPr lang="en-US" sz="3000" dirty="0"/>
          </a:p>
        </p:txBody>
      </p:sp>
      <p:sp>
        <p:nvSpPr>
          <p:cNvPr id="4" name="Text 2"/>
          <p:cNvSpPr/>
          <p:nvPr/>
        </p:nvSpPr>
        <p:spPr>
          <a:xfrm>
            <a:off x="548640" y="1463040"/>
            <a:ext cx="11064240" cy="548640"/>
          </a:xfrm>
          <a:prstGeom prst="rect">
            <a:avLst/>
          </a:prstGeom>
          <a:noFill/>
          <a:ln/>
        </p:spPr>
        <p:txBody>
          <a:bodyPr wrap="square" lIns="0" tIns="0" rIns="0" bIns="0" rtlCol="0" anchor="t"/>
          <a:lstStyle/>
          <a:p>
            <a:pPr indent="0" marL="0">
              <a:lnSpc>
                <a:spcPts val="2200"/>
              </a:lnSpc>
              <a:buNone/>
            </a:pPr>
            <a:r>
              <a:rPr lang="en-US" sz="1450" dirty="0">
                <a:solidFill>
                  <a:srgbClr val="F2F3F7"/>
                </a:solidFill>
                <a:latin typeface="Calibri" pitchFamily="34" charset="0"/>
                <a:ea typeface="Calibri" pitchFamily="34" charset="-122"/>
                <a:cs typeface="Calibri" pitchFamily="34" charset="-120"/>
              </a:rPr>
              <a:t>El estado vive lo mas arriba que sea necesario, y no mas. Esa frase parece obvia y es el 80% de la arquitectura de una aplicacion React.</a:t>
            </a:r>
            <a:endParaRPr lang="en-US" sz="1450" dirty="0"/>
          </a:p>
        </p:txBody>
      </p:sp>
      <p:sp>
        <p:nvSpPr>
          <p:cNvPr id="5" name="Shape 3"/>
          <p:cNvSpPr/>
          <p:nvPr/>
        </p:nvSpPr>
        <p:spPr>
          <a:xfrm>
            <a:off x="548640" y="2194560"/>
            <a:ext cx="3505200" cy="2423160"/>
          </a:xfrm>
          <a:prstGeom prst="roundRect">
            <a:avLst>
              <a:gd name="adj" fmla="val 3774"/>
            </a:avLst>
          </a:prstGeom>
          <a:solidFill>
            <a:srgbClr val="FF4D6D"/>
          </a:solidFill>
          <a:ln/>
        </p:spPr>
      </p:sp>
      <p:sp>
        <p:nvSpPr>
          <p:cNvPr id="6" name="Text 4"/>
          <p:cNvSpPr/>
          <p:nvPr/>
        </p:nvSpPr>
        <p:spPr>
          <a:xfrm>
            <a:off x="749808" y="2414016"/>
            <a:ext cx="3102864" cy="45720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Demasiado arriba</a:t>
            </a:r>
            <a:endParaRPr lang="en-US" sz="1450" dirty="0"/>
          </a:p>
        </p:txBody>
      </p:sp>
      <p:sp>
        <p:nvSpPr>
          <p:cNvPr id="7" name="Text 5"/>
          <p:cNvSpPr/>
          <p:nvPr/>
        </p:nvSpPr>
        <p:spPr>
          <a:xfrm>
            <a:off x="749808" y="2907792"/>
            <a:ext cx="3102864" cy="1508760"/>
          </a:xfrm>
          <a:prstGeom prst="rect">
            <a:avLst/>
          </a:prstGeom>
          <a:noFill/>
          <a:ln/>
        </p:spPr>
        <p:txBody>
          <a:bodyPr wrap="square" lIns="0" tIns="0" rIns="0" bIns="0" rtlCol="0" anchor="t"/>
          <a:lstStyle/>
          <a:p>
            <a:pPr indent="0" marL="0">
              <a:lnSpc>
                <a:spcPts val="1600"/>
              </a:lnSpc>
              <a:buNone/>
            </a:pPr>
            <a:r>
              <a:rPr lang="en-US" sz="1150" b="1" dirty="0">
                <a:solidFill>
                  <a:srgbClr val="FFFFFF"/>
                </a:solidFill>
                <a:latin typeface="Calibri" pitchFamily="34" charset="0"/>
                <a:ea typeface="Calibri" pitchFamily="34" charset="-122"/>
                <a:cs typeface="Calibri" pitchFamily="34" charset="-120"/>
              </a:rPr>
              <a:t>Todo el estado en el componente raiz. Cada tecla que presiona el usuario vuelve a renderizar la aplicacion entera, y para pasar un dato tres niveles abajo lo mandas por props a componentes que no lo usan.</a:t>
            </a:r>
            <a:endParaRPr lang="en-US" sz="1150" dirty="0"/>
          </a:p>
        </p:txBody>
      </p:sp>
      <p:sp>
        <p:nvSpPr>
          <p:cNvPr id="8" name="Shape 6"/>
          <p:cNvSpPr/>
          <p:nvPr/>
        </p:nvSpPr>
        <p:spPr>
          <a:xfrm>
            <a:off x="4328160" y="2194560"/>
            <a:ext cx="3505200" cy="2423160"/>
          </a:xfrm>
          <a:prstGeom prst="roundRect">
            <a:avLst>
              <a:gd name="adj" fmla="val 3774"/>
            </a:avLst>
          </a:prstGeom>
          <a:solidFill>
            <a:srgbClr val="FFD166"/>
          </a:solidFill>
          <a:ln/>
        </p:spPr>
      </p:sp>
      <p:sp>
        <p:nvSpPr>
          <p:cNvPr id="9" name="Text 7"/>
          <p:cNvSpPr/>
          <p:nvPr/>
        </p:nvSpPr>
        <p:spPr>
          <a:xfrm>
            <a:off x="4529328" y="2414016"/>
            <a:ext cx="3102864" cy="457200"/>
          </a:xfrm>
          <a:prstGeom prst="rect">
            <a:avLst/>
          </a:prstGeom>
          <a:noFill/>
          <a:ln/>
        </p:spPr>
        <p:txBody>
          <a:bodyPr wrap="square" lIns="0" tIns="0" rIns="0" bIns="0" rtlCol="0" anchor="t"/>
          <a:lstStyle/>
          <a:p>
            <a:pPr indent="0" marL="0">
              <a:buNone/>
            </a:pPr>
            <a:r>
              <a:rPr lang="en-US" sz="1450" b="1" dirty="0">
                <a:solidFill>
                  <a:srgbClr val="1A1A2E"/>
                </a:solidFill>
                <a:latin typeface="Calibri" pitchFamily="34" charset="0"/>
                <a:ea typeface="Calibri" pitchFamily="34" charset="-122"/>
                <a:cs typeface="Calibri" pitchFamily="34" charset="-120"/>
              </a:rPr>
              <a:t>Demasiado abajo</a:t>
            </a:r>
            <a:endParaRPr lang="en-US" sz="1450" dirty="0"/>
          </a:p>
        </p:txBody>
      </p:sp>
      <p:sp>
        <p:nvSpPr>
          <p:cNvPr id="10" name="Text 8"/>
          <p:cNvSpPr/>
          <p:nvPr/>
        </p:nvSpPr>
        <p:spPr>
          <a:xfrm>
            <a:off x="4529328" y="2907792"/>
            <a:ext cx="3102864" cy="1508760"/>
          </a:xfrm>
          <a:prstGeom prst="rect">
            <a:avLst/>
          </a:prstGeom>
          <a:noFill/>
          <a:ln/>
        </p:spPr>
        <p:txBody>
          <a:bodyPr wrap="square" lIns="0" tIns="0" rIns="0" bIns="0" rtlCol="0" anchor="t"/>
          <a:lstStyle/>
          <a:p>
            <a:pPr indent="0" marL="0">
              <a:lnSpc>
                <a:spcPts val="1600"/>
              </a:lnSpc>
              <a:buNone/>
            </a:pPr>
            <a:r>
              <a:rPr lang="en-US" sz="1150" dirty="0">
                <a:solidFill>
                  <a:srgbClr val="1A1A2E"/>
                </a:solidFill>
                <a:latin typeface="Calibri" pitchFamily="34" charset="0"/>
                <a:ea typeface="Calibri" pitchFamily="34" charset="-122"/>
                <a:cs typeface="Calibri" pitchFamily="34" charset="-120"/>
              </a:rPr>
              <a:t>Cada componente con su propio estado. Dos partes de la interfaz muestran numeros distintos para lo mismo, y no hay una sola fuente de verdad que puedas depurar.</a:t>
            </a:r>
            <a:endParaRPr lang="en-US" sz="1150" dirty="0"/>
          </a:p>
        </p:txBody>
      </p:sp>
      <p:sp>
        <p:nvSpPr>
          <p:cNvPr id="11" name="Shape 9"/>
          <p:cNvSpPr/>
          <p:nvPr/>
        </p:nvSpPr>
        <p:spPr>
          <a:xfrm>
            <a:off x="8107680" y="2194560"/>
            <a:ext cx="3505200" cy="2423160"/>
          </a:xfrm>
          <a:prstGeom prst="roundRect">
            <a:avLst>
              <a:gd name="adj" fmla="val 3774"/>
            </a:avLst>
          </a:prstGeom>
          <a:solidFill>
            <a:srgbClr val="4ECDC4"/>
          </a:solidFill>
          <a:ln/>
        </p:spPr>
      </p:sp>
      <p:sp>
        <p:nvSpPr>
          <p:cNvPr id="12" name="Text 10"/>
          <p:cNvSpPr/>
          <p:nvPr/>
        </p:nvSpPr>
        <p:spPr>
          <a:xfrm>
            <a:off x="8308848" y="2414016"/>
            <a:ext cx="3102864" cy="457200"/>
          </a:xfrm>
          <a:prstGeom prst="rect">
            <a:avLst/>
          </a:prstGeom>
          <a:noFill/>
          <a:ln/>
        </p:spPr>
        <p:txBody>
          <a:bodyPr wrap="square" lIns="0" tIns="0" rIns="0" bIns="0" rtlCol="0" anchor="t"/>
          <a:lstStyle/>
          <a:p>
            <a:pPr indent="0" marL="0">
              <a:buNone/>
            </a:pPr>
            <a:r>
              <a:rPr lang="en-US" sz="1450" b="1" dirty="0">
                <a:solidFill>
                  <a:srgbClr val="1A1A2E"/>
                </a:solidFill>
                <a:latin typeface="Calibri" pitchFamily="34" charset="0"/>
                <a:ea typeface="Calibri" pitchFamily="34" charset="-122"/>
                <a:cs typeface="Calibri" pitchFamily="34" charset="-120"/>
              </a:rPr>
              <a:t>En el punto justo</a:t>
            </a:r>
            <a:endParaRPr lang="en-US" sz="1450" dirty="0"/>
          </a:p>
        </p:txBody>
      </p:sp>
      <p:sp>
        <p:nvSpPr>
          <p:cNvPr id="13" name="Text 11"/>
          <p:cNvSpPr/>
          <p:nvPr/>
        </p:nvSpPr>
        <p:spPr>
          <a:xfrm>
            <a:off x="8308848" y="2907792"/>
            <a:ext cx="3102864" cy="1508760"/>
          </a:xfrm>
          <a:prstGeom prst="rect">
            <a:avLst/>
          </a:prstGeom>
          <a:noFill/>
          <a:ln/>
        </p:spPr>
        <p:txBody>
          <a:bodyPr wrap="square" lIns="0" tIns="0" rIns="0" bIns="0" rtlCol="0" anchor="t"/>
          <a:lstStyle/>
          <a:p>
            <a:pPr indent="0" marL="0">
              <a:lnSpc>
                <a:spcPts val="1600"/>
              </a:lnSpc>
              <a:buNone/>
            </a:pPr>
            <a:r>
              <a:rPr lang="en-US" sz="1150" dirty="0">
                <a:solidFill>
                  <a:srgbClr val="1A1A2E"/>
                </a:solidFill>
                <a:latin typeface="Calibri" pitchFamily="34" charset="0"/>
                <a:ea typeface="Calibri" pitchFamily="34" charset="-122"/>
                <a:cs typeface="Calibri" pitchFamily="34" charset="-120"/>
              </a:rPr>
              <a:t>En el ancestro comun mas cercano de los componentes que de verdad lo necesitan. Ni uno mas arriba.</a:t>
            </a:r>
            <a:endParaRPr lang="en-US" sz="1150" dirty="0"/>
          </a:p>
        </p:txBody>
      </p:sp>
      <p:sp>
        <p:nvSpPr>
          <p:cNvPr id="14" name="Shape 12"/>
          <p:cNvSpPr/>
          <p:nvPr/>
        </p:nvSpPr>
        <p:spPr>
          <a:xfrm>
            <a:off x="548640" y="4892040"/>
            <a:ext cx="11064240" cy="777240"/>
          </a:xfrm>
          <a:prstGeom prst="roundRect">
            <a:avLst>
              <a:gd name="adj" fmla="val 10588"/>
            </a:avLst>
          </a:prstGeom>
          <a:solidFill>
            <a:srgbClr val="2E2E5C"/>
          </a:solidFill>
          <a:ln/>
        </p:spPr>
      </p:sp>
      <p:sp>
        <p:nvSpPr>
          <p:cNvPr id="15" name="Text 13"/>
          <p:cNvSpPr/>
          <p:nvPr/>
        </p:nvSpPr>
        <p:spPr>
          <a:xfrm>
            <a:off x="868680" y="4965192"/>
            <a:ext cx="10424160" cy="630936"/>
          </a:xfrm>
          <a:prstGeom prst="rect">
            <a:avLst/>
          </a:prstGeom>
          <a:noFill/>
          <a:ln/>
        </p:spPr>
        <p:txBody>
          <a:bodyPr wrap="square" lIns="0" tIns="0" rIns="0" bIns="0" rtlCol="0" anchor="ctr"/>
          <a:lstStyle/>
          <a:p>
            <a:pPr indent="0" marL="0">
              <a:lnSpc>
                <a:spcPts val="1688"/>
              </a:lnSpc>
              <a:buNone/>
            </a:pPr>
            <a:r>
              <a:rPr lang="en-US" sz="1250" b="1" dirty="0">
                <a:solidFill>
                  <a:srgbClr val="FFFFFF"/>
                </a:solidFill>
                <a:latin typeface="Calibri" pitchFamily="34" charset="0"/>
                <a:ea typeface="Calibri" pitchFamily="34" charset="-122"/>
                <a:cs typeface="Calibri" pitchFamily="34" charset="-120"/>
              </a:rPr>
              <a:t>En la Mision 06 los 12 XP mas grandes se los lleva precisamente esto: componentes con una responsabilidad clara y estado en el nivel correcto.</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74320"/>
          </a:xfrm>
          <a:prstGeom prst="rect">
            <a:avLst/>
          </a:prstGeom>
          <a:noFill/>
          <a:ln/>
        </p:spPr>
        <p:txBody>
          <a:bodyPr wrap="square" lIns="0" tIns="0" rIns="0" bIns="0" rtlCol="0" anchor="ctr"/>
          <a:lstStyle/>
          <a:p>
            <a:pPr indent="0" marL="0">
              <a:buNone/>
            </a:pPr>
            <a:r>
              <a:rPr lang="en-US" sz="1100" b="1" spc="200" kern="0" dirty="0">
                <a:solidFill>
                  <a:srgbClr val="FF4D6D"/>
                </a:solidFill>
                <a:latin typeface="Calibri" pitchFamily="34" charset="0"/>
                <a:ea typeface="Calibri" pitchFamily="34" charset="-122"/>
                <a:cs typeface="Calibri" pitchFamily="34" charset="-120"/>
              </a:rPr>
              <a:t>SESION 13 · CICLO DE VIDA</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A1A2E"/>
                </a:solidFill>
                <a:latin typeface="Cambria" pitchFamily="34" charset="0"/>
                <a:ea typeface="Cambria" pitchFamily="34" charset="-122"/>
                <a:cs typeface="Cambria" pitchFamily="34" charset="-120"/>
              </a:rPr>
              <a:t>Los hooks que de verdad vas a usar</a:t>
            </a:r>
            <a:endParaRPr lang="en-US" sz="3000" dirty="0"/>
          </a:p>
        </p:txBody>
      </p:sp>
      <p:sp>
        <p:nvSpPr>
          <p:cNvPr id="4" name="Shape 2"/>
          <p:cNvSpPr/>
          <p:nvPr/>
        </p:nvSpPr>
        <p:spPr>
          <a:xfrm>
            <a:off x="548640" y="1508760"/>
            <a:ext cx="5577840" cy="822960"/>
          </a:xfrm>
          <a:prstGeom prst="roundRect">
            <a:avLst>
              <a:gd name="adj" fmla="val 10000"/>
            </a:avLst>
          </a:prstGeom>
          <a:solidFill>
            <a:srgbClr val="FF4D6D"/>
          </a:solidFill>
          <a:ln/>
        </p:spPr>
      </p:sp>
      <p:sp>
        <p:nvSpPr>
          <p:cNvPr id="5" name="Text 3"/>
          <p:cNvSpPr/>
          <p:nvPr/>
        </p:nvSpPr>
        <p:spPr>
          <a:xfrm>
            <a:off x="804672" y="1636776"/>
            <a:ext cx="5065776" cy="310896"/>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useState</a:t>
            </a:r>
            <a:endParaRPr lang="en-US" sz="1350" dirty="0"/>
          </a:p>
        </p:txBody>
      </p:sp>
      <p:sp>
        <p:nvSpPr>
          <p:cNvPr id="6" name="Text 4"/>
          <p:cNvSpPr/>
          <p:nvPr/>
        </p:nvSpPr>
        <p:spPr>
          <a:xfrm>
            <a:off x="804672" y="1965960"/>
            <a:ext cx="5065776" cy="237744"/>
          </a:xfrm>
          <a:prstGeom prst="rect">
            <a:avLst/>
          </a:prstGeom>
          <a:noFill/>
          <a:ln/>
        </p:spPr>
        <p:txBody>
          <a:bodyPr wrap="square" lIns="0" tIns="0" rIns="0" bIns="0" rtlCol="0" anchor="t"/>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Lo que cambia y debe redibujar la interfaz. Las actualizaciones se agrupan por lote.</a:t>
            </a:r>
            <a:endParaRPr lang="en-US" sz="1150" dirty="0"/>
          </a:p>
        </p:txBody>
      </p:sp>
      <p:sp>
        <p:nvSpPr>
          <p:cNvPr id="7" name="Shape 5"/>
          <p:cNvSpPr/>
          <p:nvPr/>
        </p:nvSpPr>
        <p:spPr>
          <a:xfrm>
            <a:off x="548640" y="2459736"/>
            <a:ext cx="5577840" cy="822960"/>
          </a:xfrm>
          <a:prstGeom prst="roundRect">
            <a:avLst>
              <a:gd name="adj" fmla="val 10000"/>
            </a:avLst>
          </a:prstGeom>
          <a:solidFill>
            <a:srgbClr val="4ECDC4"/>
          </a:solidFill>
          <a:ln/>
        </p:spPr>
      </p:sp>
      <p:sp>
        <p:nvSpPr>
          <p:cNvPr id="8" name="Text 6"/>
          <p:cNvSpPr/>
          <p:nvPr/>
        </p:nvSpPr>
        <p:spPr>
          <a:xfrm>
            <a:off x="804672" y="2587752"/>
            <a:ext cx="5065776" cy="310896"/>
          </a:xfrm>
          <a:prstGeom prst="rect">
            <a:avLst/>
          </a:prstGeom>
          <a:noFill/>
          <a:ln/>
        </p:spPr>
        <p:txBody>
          <a:bodyPr wrap="square" lIns="0" tIns="0" rIns="0" bIns="0" rtlCol="0" anchor="t"/>
          <a:lstStyle/>
          <a:p>
            <a:pPr indent="0" marL="0">
              <a:buNone/>
            </a:pPr>
            <a:r>
              <a:rPr lang="en-US" sz="1350" b="1" dirty="0">
                <a:solidFill>
                  <a:srgbClr val="1A1A2E"/>
                </a:solidFill>
                <a:latin typeface="Calibri" pitchFamily="34" charset="0"/>
                <a:ea typeface="Calibri" pitchFamily="34" charset="-122"/>
                <a:cs typeface="Calibri" pitchFamily="34" charset="-120"/>
              </a:rPr>
              <a:t>useEffect</a:t>
            </a:r>
            <a:endParaRPr lang="en-US" sz="1350" dirty="0"/>
          </a:p>
        </p:txBody>
      </p:sp>
      <p:sp>
        <p:nvSpPr>
          <p:cNvPr id="9" name="Text 7"/>
          <p:cNvSpPr/>
          <p:nvPr/>
        </p:nvSpPr>
        <p:spPr>
          <a:xfrm>
            <a:off x="804672" y="2916936"/>
            <a:ext cx="5065776" cy="237744"/>
          </a:xfrm>
          <a:prstGeom prst="rect">
            <a:avLst/>
          </a:prstGeom>
          <a:noFill/>
          <a:ln/>
        </p:spPr>
        <p:txBody>
          <a:bodyPr wrap="square" lIns="0" tIns="0" rIns="0" bIns="0" rtlCol="0" anchor="t"/>
          <a:lstStyle/>
          <a:p>
            <a:pPr indent="0" marL="0">
              <a:lnSpc>
                <a:spcPts val="1500"/>
              </a:lnSpc>
              <a:buNone/>
            </a:pPr>
            <a:r>
              <a:rPr lang="en-US" sz="1150" dirty="0">
                <a:solidFill>
                  <a:srgbClr val="1A1A2E"/>
                </a:solidFill>
                <a:latin typeface="Calibri" pitchFamily="34" charset="0"/>
                <a:ea typeface="Calibri" pitchFamily="34" charset="-122"/>
                <a:cs typeface="Calibri" pitchFamily="34" charset="-120"/>
              </a:rPr>
              <a:t>Sincronizar con algo de fuera de React: una peticion, un temporizador, un evento del navegador.</a:t>
            </a:r>
            <a:endParaRPr lang="en-US" sz="1150" dirty="0"/>
          </a:p>
        </p:txBody>
      </p:sp>
      <p:sp>
        <p:nvSpPr>
          <p:cNvPr id="10" name="Shape 8"/>
          <p:cNvSpPr/>
          <p:nvPr/>
        </p:nvSpPr>
        <p:spPr>
          <a:xfrm>
            <a:off x="548640" y="3410712"/>
            <a:ext cx="5577840" cy="822960"/>
          </a:xfrm>
          <a:prstGeom prst="roundRect">
            <a:avLst>
              <a:gd name="adj" fmla="val 10000"/>
            </a:avLst>
          </a:prstGeom>
          <a:solidFill>
            <a:srgbClr val="FFD166"/>
          </a:solidFill>
          <a:ln/>
        </p:spPr>
      </p:sp>
      <p:sp>
        <p:nvSpPr>
          <p:cNvPr id="11" name="Text 9"/>
          <p:cNvSpPr/>
          <p:nvPr/>
        </p:nvSpPr>
        <p:spPr>
          <a:xfrm>
            <a:off x="804672" y="3538728"/>
            <a:ext cx="5065776" cy="310896"/>
          </a:xfrm>
          <a:prstGeom prst="rect">
            <a:avLst/>
          </a:prstGeom>
          <a:noFill/>
          <a:ln/>
        </p:spPr>
        <p:txBody>
          <a:bodyPr wrap="square" lIns="0" tIns="0" rIns="0" bIns="0" rtlCol="0" anchor="t"/>
          <a:lstStyle/>
          <a:p>
            <a:pPr indent="0" marL="0">
              <a:buNone/>
            </a:pPr>
            <a:r>
              <a:rPr lang="en-US" sz="1350" b="1" dirty="0">
                <a:solidFill>
                  <a:srgbClr val="1A1A2E"/>
                </a:solidFill>
                <a:latin typeface="Calibri" pitchFamily="34" charset="0"/>
                <a:ea typeface="Calibri" pitchFamily="34" charset="-122"/>
                <a:cs typeface="Calibri" pitchFamily="34" charset="-120"/>
              </a:rPr>
              <a:t>useRef</a:t>
            </a:r>
            <a:endParaRPr lang="en-US" sz="1350" dirty="0"/>
          </a:p>
        </p:txBody>
      </p:sp>
      <p:sp>
        <p:nvSpPr>
          <p:cNvPr id="12" name="Text 10"/>
          <p:cNvSpPr/>
          <p:nvPr/>
        </p:nvSpPr>
        <p:spPr>
          <a:xfrm>
            <a:off x="804672" y="3867912"/>
            <a:ext cx="5065776" cy="237744"/>
          </a:xfrm>
          <a:prstGeom prst="rect">
            <a:avLst/>
          </a:prstGeom>
          <a:noFill/>
          <a:ln/>
        </p:spPr>
        <p:txBody>
          <a:bodyPr wrap="square" lIns="0" tIns="0" rIns="0" bIns="0" rtlCol="0" anchor="t"/>
          <a:lstStyle/>
          <a:p>
            <a:pPr indent="0" marL="0">
              <a:lnSpc>
                <a:spcPts val="1500"/>
              </a:lnSpc>
              <a:buNone/>
            </a:pPr>
            <a:r>
              <a:rPr lang="en-US" sz="1150" dirty="0">
                <a:solidFill>
                  <a:srgbClr val="1A1A2E"/>
                </a:solidFill>
                <a:latin typeface="Calibri" pitchFamily="34" charset="0"/>
                <a:ea typeface="Calibri" pitchFamily="34" charset="-122"/>
                <a:cs typeface="Calibri" pitchFamily="34" charset="-120"/>
              </a:rPr>
              <a:t>Lo que cambia pero NO debe redibujar. En juegos es fundamental: la posicion de la nave a 60 fps.</a:t>
            </a:r>
            <a:endParaRPr lang="en-US" sz="1150" dirty="0"/>
          </a:p>
        </p:txBody>
      </p:sp>
      <p:sp>
        <p:nvSpPr>
          <p:cNvPr id="13" name="Shape 11"/>
          <p:cNvSpPr/>
          <p:nvPr/>
        </p:nvSpPr>
        <p:spPr>
          <a:xfrm>
            <a:off x="548640" y="4361688"/>
            <a:ext cx="5577840" cy="822960"/>
          </a:xfrm>
          <a:prstGeom prst="roundRect">
            <a:avLst>
              <a:gd name="adj" fmla="val 10000"/>
            </a:avLst>
          </a:prstGeom>
          <a:solidFill>
            <a:srgbClr val="2E2E5C"/>
          </a:solidFill>
          <a:ln/>
        </p:spPr>
      </p:sp>
      <p:sp>
        <p:nvSpPr>
          <p:cNvPr id="14" name="Text 12"/>
          <p:cNvSpPr/>
          <p:nvPr/>
        </p:nvSpPr>
        <p:spPr>
          <a:xfrm>
            <a:off x="804672" y="4489704"/>
            <a:ext cx="5065776" cy="310896"/>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useReducer</a:t>
            </a:r>
            <a:endParaRPr lang="en-US" sz="1350" dirty="0"/>
          </a:p>
        </p:txBody>
      </p:sp>
      <p:sp>
        <p:nvSpPr>
          <p:cNvPr id="15" name="Text 13"/>
          <p:cNvSpPr/>
          <p:nvPr/>
        </p:nvSpPr>
        <p:spPr>
          <a:xfrm>
            <a:off x="804672" y="4818888"/>
            <a:ext cx="5065776" cy="237744"/>
          </a:xfrm>
          <a:prstGeom prst="rect">
            <a:avLst/>
          </a:prstGeom>
          <a:noFill/>
          <a:ln/>
        </p:spPr>
        <p:txBody>
          <a:bodyPr wrap="square" lIns="0" tIns="0" rIns="0" bIns="0" rtlCol="0" anchor="t"/>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Cuando el estado se vuelve complejo y las transiciones tienen reglas.</a:t>
            </a:r>
            <a:endParaRPr lang="en-US" sz="1150" dirty="0"/>
          </a:p>
        </p:txBody>
      </p:sp>
      <p:sp>
        <p:nvSpPr>
          <p:cNvPr id="16" name="Shape 14"/>
          <p:cNvSpPr/>
          <p:nvPr/>
        </p:nvSpPr>
        <p:spPr>
          <a:xfrm>
            <a:off x="6400800" y="1508760"/>
            <a:ext cx="5212080" cy="3291840"/>
          </a:xfrm>
          <a:prstGeom prst="roundRect">
            <a:avLst>
              <a:gd name="adj" fmla="val 2222"/>
            </a:avLst>
          </a:prstGeom>
          <a:solidFill>
            <a:srgbClr val="0F0F1F"/>
          </a:solidFill>
          <a:ln/>
        </p:spPr>
      </p:sp>
      <p:sp>
        <p:nvSpPr>
          <p:cNvPr id="17" name="Text 15"/>
          <p:cNvSpPr/>
          <p:nvPr/>
        </p:nvSpPr>
        <p:spPr>
          <a:xfrm>
            <a:off x="6629400" y="1645920"/>
            <a:ext cx="4754880" cy="274320"/>
          </a:xfrm>
          <a:prstGeom prst="rect">
            <a:avLst/>
          </a:prstGeom>
          <a:noFill/>
          <a:ln/>
        </p:spPr>
        <p:txBody>
          <a:bodyPr wrap="square" lIns="0" tIns="0" rIns="0" bIns="0" rtlCol="0" anchor="ctr"/>
          <a:lstStyle/>
          <a:p>
            <a:pPr indent="0" marL="0">
              <a:buNone/>
            </a:pPr>
            <a:r>
              <a:rPr lang="en-US" sz="1000" b="1" dirty="0">
                <a:solidFill>
                  <a:srgbClr val="FFD166"/>
                </a:solidFill>
                <a:latin typeface="Courier New" pitchFamily="34" charset="0"/>
                <a:ea typeface="Courier New" pitchFamily="34" charset="-122"/>
                <a:cs typeface="Courier New" pitchFamily="34" charset="-120"/>
              </a:rPr>
              <a:t>el error mas comun</a:t>
            </a:r>
            <a:endParaRPr lang="en-US" sz="1000" dirty="0"/>
          </a:p>
        </p:txBody>
      </p:sp>
      <p:sp>
        <p:nvSpPr>
          <p:cNvPr id="18" name="Text 16"/>
          <p:cNvSpPr/>
          <p:nvPr/>
        </p:nvSpPr>
        <p:spPr>
          <a:xfrm>
            <a:off x="6629400" y="1984248"/>
            <a:ext cx="4754880" cy="2633472"/>
          </a:xfrm>
          <a:prstGeom prst="rect">
            <a:avLst/>
          </a:prstGeom>
          <a:noFill/>
          <a:ln/>
        </p:spPr>
        <p:txBody>
          <a:bodyPr wrap="square" lIns="0" tIns="0" rIns="0" bIns="0" rtlCol="0" anchor="t"/>
          <a:lstStyle/>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useEffect(() =&gt; {</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const id = setInterval(tick, 1000);</a:t>
            </a:r>
            <a:endParaRPr lang="en-US" sz="1050" dirty="0"/>
          </a:p>
          <a:p>
            <a:pPr indent="0" marL="0">
              <a:lnSpc>
                <a:spcPts val="1575"/>
              </a:lnSpc>
              <a:buNone/>
            </a:pP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 La limpieza NO es opcional:</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 sin ella el temporizador sigue</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 corriendo cuando el componente</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 ya no existe. Fuga de memoria.</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return () =&gt; clearInterval(id);</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   // [] = solo al montar</a:t>
            </a:r>
            <a:endParaRPr lang="en-US" sz="1050" dirty="0"/>
          </a:p>
        </p:txBody>
      </p:sp>
      <p:sp>
        <p:nvSpPr>
          <p:cNvPr id="19" name="Shape 17"/>
          <p:cNvSpPr/>
          <p:nvPr/>
        </p:nvSpPr>
        <p:spPr>
          <a:xfrm>
            <a:off x="548640" y="4983480"/>
            <a:ext cx="11064240" cy="777240"/>
          </a:xfrm>
          <a:prstGeom prst="roundRect">
            <a:avLst>
              <a:gd name="adj" fmla="val 10588"/>
            </a:avLst>
          </a:prstGeom>
          <a:solidFill>
            <a:srgbClr val="FFD166"/>
          </a:solidFill>
          <a:ln/>
        </p:spPr>
      </p:sp>
      <p:sp>
        <p:nvSpPr>
          <p:cNvPr id="20" name="Text 18"/>
          <p:cNvSpPr/>
          <p:nvPr/>
        </p:nvSpPr>
        <p:spPr>
          <a:xfrm>
            <a:off x="868680" y="5056632"/>
            <a:ext cx="10424160" cy="630936"/>
          </a:xfrm>
          <a:prstGeom prst="rect">
            <a:avLst/>
          </a:prstGeom>
          <a:noFill/>
          <a:ln/>
        </p:spPr>
        <p:txBody>
          <a:bodyPr wrap="square" lIns="0" tIns="0" rIns="0" bIns="0" rtlCol="0" anchor="ctr"/>
          <a:lstStyle/>
          <a:p>
            <a:pPr indent="0" marL="0">
              <a:lnSpc>
                <a:spcPts val="1688"/>
              </a:lnSpc>
              <a:buNone/>
            </a:pPr>
            <a:r>
              <a:rPr lang="en-US" sz="1250" b="1" dirty="0">
                <a:solidFill>
                  <a:srgbClr val="1A1A2E"/>
                </a:solidFill>
                <a:latin typeface="Calibri" pitchFamily="34" charset="0"/>
                <a:ea typeface="Calibri" pitchFamily="34" charset="-122"/>
                <a:cs typeface="Calibri" pitchFamily="34" charset="-120"/>
              </a:rPr>
              <a:t>useMemo y useCallback existen, pero optimizar antes de medir es perder el tiempo. Primero haz que funcione, luego mide, y solo entonces optimiza.</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74320"/>
          </a:xfrm>
          <a:prstGeom prst="rect">
            <a:avLst/>
          </a:prstGeom>
          <a:noFill/>
          <a:ln/>
        </p:spPr>
        <p:txBody>
          <a:bodyPr wrap="square" lIns="0" tIns="0" rIns="0" bIns="0" rtlCol="0" anchor="ctr"/>
          <a:lstStyle/>
          <a:p>
            <a:pPr indent="0" marL="0">
              <a:buNone/>
            </a:pPr>
            <a:r>
              <a:rPr lang="en-US" sz="1100" b="1" spc="200" kern="0" dirty="0">
                <a:solidFill>
                  <a:srgbClr val="FF4D6D"/>
                </a:solidFill>
                <a:latin typeface="Calibri" pitchFamily="34" charset="0"/>
                <a:ea typeface="Calibri" pitchFamily="34" charset="-122"/>
                <a:cs typeface="Calibri" pitchFamily="34" charset="-120"/>
              </a:rPr>
              <a:t>SESION 14 · NEXT.JS</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A1A2E"/>
                </a:solidFill>
                <a:latin typeface="Cambria" pitchFamily="34" charset="0"/>
                <a:ea typeface="Cambria" pitchFamily="34" charset="-122"/>
                <a:cs typeface="Cambria" pitchFamily="34" charset="-120"/>
              </a:rPr>
              <a:t>Estrategias de renderizado</a:t>
            </a:r>
            <a:endParaRPr lang="en-US" sz="3000" dirty="0"/>
          </a:p>
        </p:txBody>
      </p:sp>
      <p:pic>
        <p:nvPicPr>
          <p:cNvPr id="4" name="Image 0" descr="/sessions/relaxed-eloquent-cori/mnt/Web 1/recursos/d07-csr-ssr-ssg.png">    </p:cNvPr>
          <p:cNvPicPr>
            <a:picLocks noChangeAspect="1"/>
          </p:cNvPicPr>
          <p:nvPr/>
        </p:nvPicPr>
        <p:blipFill>
          <a:blip r:embed="rId1"/>
          <a:srcRect l="0" r="0" t="0" b="0"/>
          <a:stretch/>
        </p:blipFill>
        <p:spPr>
          <a:xfrm>
            <a:off x="914400" y="1325880"/>
            <a:ext cx="10332720" cy="3840480"/>
          </a:xfrm>
          <a:prstGeom prst="rect">
            <a:avLst/>
          </a:prstGeom>
        </p:spPr>
      </p:pic>
      <p:sp>
        <p:nvSpPr>
          <p:cNvPr id="5" name="Text 2"/>
          <p:cNvSpPr/>
          <p:nvPr/>
        </p:nvSpPr>
        <p:spPr>
          <a:xfrm>
            <a:off x="822960" y="5440680"/>
            <a:ext cx="10515600" cy="365760"/>
          </a:xfrm>
          <a:prstGeom prst="rect">
            <a:avLst/>
          </a:prstGeom>
          <a:noFill/>
          <a:ln/>
        </p:spPr>
        <p:txBody>
          <a:bodyPr wrap="square" lIns="0" tIns="0" rIns="0" bIns="0" rtlCol="0" anchor="ctr"/>
          <a:lstStyle/>
          <a:p>
            <a:pPr algn="ctr" indent="0" marL="0">
              <a:buNone/>
            </a:pPr>
            <a:r>
              <a:rPr lang="en-US" sz="1050" i="1" dirty="0">
                <a:solidFill>
                  <a:srgbClr val="8A8AA3"/>
                </a:solidFill>
                <a:latin typeface="Calibri" pitchFamily="34" charset="0"/>
                <a:ea typeface="Calibri" pitchFamily="34" charset="-122"/>
                <a:cs typeface="Calibri" pitchFamily="34" charset="-120"/>
              </a:rPr>
              <a:t>Fuente: Next.js, App Router documentation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74320"/>
          </a:xfrm>
          <a:prstGeom prst="rect">
            <a:avLst/>
          </a:prstGeom>
          <a:noFill/>
          <a:ln/>
        </p:spPr>
        <p:txBody>
          <a:bodyPr wrap="square" lIns="0" tIns="0" rIns="0" bIns="0" rtlCol="0" anchor="ctr"/>
          <a:lstStyle/>
          <a:p>
            <a:pPr indent="0" marL="0">
              <a:buNone/>
            </a:pPr>
            <a:r>
              <a:rPr lang="en-US" sz="1100" b="1" spc="200" kern="0" dirty="0">
                <a:solidFill>
                  <a:srgbClr val="FF4D6D"/>
                </a:solidFill>
                <a:latin typeface="Calibri" pitchFamily="34" charset="0"/>
                <a:ea typeface="Calibri" pitchFamily="34" charset="-122"/>
                <a:cs typeface="Calibri" pitchFamily="34" charset="-120"/>
              </a:rPr>
              <a:t>SESION 14 · LA FRONTERA</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A1A2E"/>
                </a:solidFill>
                <a:latin typeface="Cambria" pitchFamily="34" charset="0"/>
                <a:ea typeface="Cambria" pitchFamily="34" charset="-122"/>
                <a:cs typeface="Cambria" pitchFamily="34" charset="-120"/>
              </a:rPr>
              <a:t>Componentes de servidor y de cliente</a:t>
            </a:r>
            <a:endParaRPr lang="en-US" sz="3000" dirty="0"/>
          </a:p>
        </p:txBody>
      </p:sp>
      <p:sp>
        <p:nvSpPr>
          <p:cNvPr id="4" name="Shape 2"/>
          <p:cNvSpPr/>
          <p:nvPr/>
        </p:nvSpPr>
        <p:spPr>
          <a:xfrm>
            <a:off x="548640" y="1508760"/>
            <a:ext cx="5394960" cy="3017520"/>
          </a:xfrm>
          <a:prstGeom prst="roundRect">
            <a:avLst>
              <a:gd name="adj" fmla="val 2424"/>
            </a:avLst>
          </a:prstGeom>
          <a:solidFill>
            <a:srgbClr val="0F0F1F"/>
          </a:solidFill>
          <a:ln/>
        </p:spPr>
      </p:sp>
      <p:sp>
        <p:nvSpPr>
          <p:cNvPr id="5" name="Text 3"/>
          <p:cNvSpPr/>
          <p:nvPr/>
        </p:nvSpPr>
        <p:spPr>
          <a:xfrm>
            <a:off x="777240" y="1645920"/>
            <a:ext cx="4937760" cy="274320"/>
          </a:xfrm>
          <a:prstGeom prst="rect">
            <a:avLst/>
          </a:prstGeom>
          <a:noFill/>
          <a:ln/>
        </p:spPr>
        <p:txBody>
          <a:bodyPr wrap="square" lIns="0" tIns="0" rIns="0" bIns="0" rtlCol="0" anchor="ctr"/>
          <a:lstStyle/>
          <a:p>
            <a:pPr indent="0" marL="0">
              <a:buNone/>
            </a:pPr>
            <a:r>
              <a:rPr lang="en-US" sz="1000" b="1" dirty="0">
                <a:solidFill>
                  <a:srgbClr val="FFD166"/>
                </a:solidFill>
                <a:latin typeface="Courier New" pitchFamily="34" charset="0"/>
                <a:ea typeface="Courier New" pitchFamily="34" charset="-122"/>
                <a:cs typeface="Courier New" pitchFamily="34" charset="-120"/>
              </a:rPr>
              <a:t>servidor</a:t>
            </a:r>
            <a:endParaRPr lang="en-US" sz="1000" dirty="0"/>
          </a:p>
        </p:txBody>
      </p:sp>
      <p:sp>
        <p:nvSpPr>
          <p:cNvPr id="6" name="Text 4"/>
          <p:cNvSpPr/>
          <p:nvPr/>
        </p:nvSpPr>
        <p:spPr>
          <a:xfrm>
            <a:off x="777240" y="1984248"/>
            <a:ext cx="4937760" cy="2359152"/>
          </a:xfrm>
          <a:prstGeom prst="rect">
            <a:avLst/>
          </a:prstGeom>
          <a:noFill/>
          <a:ln/>
        </p:spPr>
        <p:txBody>
          <a:bodyPr wrap="square" lIns="0" tIns="0" rIns="0" bIns="0" rtlCol="0" anchor="t"/>
          <a:lstStyle/>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app/marcador/page.tsx</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Por defecto: componente de SERVIDOR</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Corre en el servidor, nunca se envia</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su codigo al navegador.</a:t>
            </a:r>
            <a:endParaRPr lang="en-US" sz="1050" dirty="0"/>
          </a:p>
          <a:p>
            <a:pPr indent="0" marL="0">
              <a:lnSpc>
                <a:spcPts val="1575"/>
              </a:lnSpc>
              <a:buNone/>
            </a:pP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async function Marcador() {</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const datos = await db.query(...);</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return &lt;Tabla datos={datos} /&gt;;</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a:t>
            </a:r>
            <a:endParaRPr lang="en-US" sz="1050" dirty="0"/>
          </a:p>
          <a:p>
            <a:pPr indent="0" marL="0">
              <a:lnSpc>
                <a:spcPts val="1575"/>
              </a:lnSpc>
              <a:buNone/>
            </a:pP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Puede hablar con la base de datos</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directo. No hay API intermedia.</a:t>
            </a:r>
            <a:endParaRPr lang="en-US" sz="1050" dirty="0"/>
          </a:p>
        </p:txBody>
      </p:sp>
      <p:sp>
        <p:nvSpPr>
          <p:cNvPr id="7" name="Shape 5"/>
          <p:cNvSpPr/>
          <p:nvPr/>
        </p:nvSpPr>
        <p:spPr>
          <a:xfrm>
            <a:off x="6217920" y="1508760"/>
            <a:ext cx="5394960" cy="3017520"/>
          </a:xfrm>
          <a:prstGeom prst="roundRect">
            <a:avLst>
              <a:gd name="adj" fmla="val 2424"/>
            </a:avLst>
          </a:prstGeom>
          <a:solidFill>
            <a:srgbClr val="0F0F1F"/>
          </a:solidFill>
          <a:ln/>
        </p:spPr>
      </p:sp>
      <p:sp>
        <p:nvSpPr>
          <p:cNvPr id="8" name="Text 6"/>
          <p:cNvSpPr/>
          <p:nvPr/>
        </p:nvSpPr>
        <p:spPr>
          <a:xfrm>
            <a:off x="6446520" y="1645920"/>
            <a:ext cx="4937760" cy="274320"/>
          </a:xfrm>
          <a:prstGeom prst="rect">
            <a:avLst/>
          </a:prstGeom>
          <a:noFill/>
          <a:ln/>
        </p:spPr>
        <p:txBody>
          <a:bodyPr wrap="square" lIns="0" tIns="0" rIns="0" bIns="0" rtlCol="0" anchor="ctr"/>
          <a:lstStyle/>
          <a:p>
            <a:pPr indent="0" marL="0">
              <a:buNone/>
            </a:pPr>
            <a:r>
              <a:rPr lang="en-US" sz="1000" b="1" dirty="0">
                <a:solidFill>
                  <a:srgbClr val="FFD166"/>
                </a:solidFill>
                <a:latin typeface="Courier New" pitchFamily="34" charset="0"/>
                <a:ea typeface="Courier New" pitchFamily="34" charset="-122"/>
                <a:cs typeface="Courier New" pitchFamily="34" charset="-120"/>
              </a:rPr>
              <a:t>cliente</a:t>
            </a:r>
            <a:endParaRPr lang="en-US" sz="1000" dirty="0"/>
          </a:p>
        </p:txBody>
      </p:sp>
      <p:sp>
        <p:nvSpPr>
          <p:cNvPr id="9" name="Text 7"/>
          <p:cNvSpPr/>
          <p:nvPr/>
        </p:nvSpPr>
        <p:spPr>
          <a:xfrm>
            <a:off x="6446520" y="1984248"/>
            <a:ext cx="4937760" cy="2359152"/>
          </a:xfrm>
          <a:prstGeom prst="rect">
            <a:avLst/>
          </a:prstGeom>
          <a:noFill/>
          <a:ln/>
        </p:spPr>
        <p:txBody>
          <a:bodyPr wrap="square" lIns="0" tIns="0" rIns="0" bIns="0" rtlCol="0" anchor="t"/>
          <a:lstStyle/>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"use client";</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Necesario SOLO si usas:</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 useState, useEffect, hooks</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 onClick y otros eventos</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 APIs del navegador</a:t>
            </a:r>
            <a:endParaRPr lang="en-US" sz="1050" dirty="0"/>
          </a:p>
          <a:p>
            <a:pPr indent="0" marL="0">
              <a:lnSpc>
                <a:spcPts val="1575"/>
              </a:lnSpc>
              <a:buNone/>
            </a:pP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function Boton() {</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const [n, setN] = useState(0);</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  return &lt;button onClick={...}&gt;{n}&lt;/button&gt;;</a:t>
            </a:r>
            <a:endParaRPr lang="en-US" sz="1050" dirty="0"/>
          </a:p>
          <a:p>
            <a:pPr indent="0" marL="0">
              <a:lnSpc>
                <a:spcPts val="1575"/>
              </a:lnSpc>
              <a:buNone/>
            </a:pPr>
            <a:r>
              <a:rPr lang="en-US" sz="1050" dirty="0">
                <a:solidFill>
                  <a:srgbClr val="E8E8F5"/>
                </a:solidFill>
                <a:latin typeface="Courier New" pitchFamily="34" charset="0"/>
                <a:ea typeface="Courier New" pitchFamily="34" charset="-122"/>
                <a:cs typeface="Courier New" pitchFamily="34" charset="-120"/>
              </a:rPr>
              <a:t>}</a:t>
            </a:r>
            <a:endParaRPr lang="en-US" sz="1050" dirty="0"/>
          </a:p>
        </p:txBody>
      </p:sp>
      <p:sp>
        <p:nvSpPr>
          <p:cNvPr id="10" name="Shape 8"/>
          <p:cNvSpPr/>
          <p:nvPr/>
        </p:nvSpPr>
        <p:spPr>
          <a:xfrm>
            <a:off x="548640" y="4800600"/>
            <a:ext cx="11064240" cy="777240"/>
          </a:xfrm>
          <a:prstGeom prst="roundRect">
            <a:avLst>
              <a:gd name="adj" fmla="val 10588"/>
            </a:avLst>
          </a:prstGeom>
          <a:solidFill>
            <a:srgbClr val="FF4D6D"/>
          </a:solidFill>
          <a:ln/>
        </p:spPr>
      </p:sp>
      <p:sp>
        <p:nvSpPr>
          <p:cNvPr id="11" name="Text 9"/>
          <p:cNvSpPr/>
          <p:nvPr/>
        </p:nvSpPr>
        <p:spPr>
          <a:xfrm>
            <a:off x="868680" y="4873752"/>
            <a:ext cx="10424160" cy="630936"/>
          </a:xfrm>
          <a:prstGeom prst="rect">
            <a:avLst/>
          </a:prstGeom>
          <a:noFill/>
          <a:ln/>
        </p:spPr>
        <p:txBody>
          <a:bodyPr wrap="square" lIns="0" tIns="0" rIns="0" bIns="0" rtlCol="0" anchor="ctr"/>
          <a:lstStyle/>
          <a:p>
            <a:pPr indent="0" marL="0">
              <a:lnSpc>
                <a:spcPts val="1688"/>
              </a:lnSpc>
              <a:buNone/>
            </a:pPr>
            <a:r>
              <a:rPr lang="en-US" sz="1250" b="1" dirty="0">
                <a:solidFill>
                  <a:srgbClr val="FFFFFF"/>
                </a:solidFill>
                <a:latin typeface="Calibri" pitchFamily="34" charset="0"/>
                <a:ea typeface="Calibri" pitchFamily="34" charset="-122"/>
                <a:cs typeface="Calibri" pitchFamily="34" charset="-120"/>
              </a:rPr>
              <a:t>Cuando 'use client' es un parche: si lo pones en la raiz para que dejen de aparecer errores, acabas de convertir toda tu aplicacion en cliente y perdiste el beneficio entero. Ponlo lo mas abajo posible.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62E"/>
        </a:solidFill>
      </p:bgPr>
    </p:bg>
    <p:spTree>
      <p:nvGrpSpPr>
        <p:cNvPr id="1" name=""/>
        <p:cNvGrpSpPr/>
        <p:nvPr/>
      </p:nvGrpSpPr>
      <p:grpSpPr>
        <a:xfrm>
          <a:off x="0" y="0"/>
          <a:ext cx="0" cy="0"/>
          <a:chOff x="0" y="0"/>
          <a:chExt cx="0" cy="0"/>
        </a:xfrm>
      </p:grpSpPr>
      <p:sp>
        <p:nvSpPr>
          <p:cNvPr id="2" name="Text 0"/>
          <p:cNvSpPr/>
          <p:nvPr/>
        </p:nvSpPr>
        <p:spPr>
          <a:xfrm>
            <a:off x="548640" y="292608"/>
            <a:ext cx="10515600" cy="274320"/>
          </a:xfrm>
          <a:prstGeom prst="rect">
            <a:avLst/>
          </a:prstGeom>
          <a:noFill/>
          <a:ln/>
        </p:spPr>
        <p:txBody>
          <a:bodyPr wrap="square" lIns="0" tIns="0" rIns="0" bIns="0" rtlCol="0" anchor="ctr"/>
          <a:lstStyle/>
          <a:p>
            <a:pPr indent="0" marL="0">
              <a:buNone/>
            </a:pPr>
            <a:r>
              <a:rPr lang="en-US" sz="1100" b="1" spc="200" kern="0" dirty="0">
                <a:solidFill>
                  <a:srgbClr val="FFD166"/>
                </a:solidFill>
                <a:latin typeface="Calibri" pitchFamily="34" charset="0"/>
                <a:ea typeface="Calibri" pitchFamily="34" charset="-122"/>
                <a:cs typeface="Calibri" pitchFamily="34" charset="-120"/>
              </a:rPr>
              <a:t>SESION 15 · SERVICIOS PREDICTIVOS</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Integrar un modelo de lenguaje</a:t>
            </a:r>
            <a:endParaRPr lang="en-US" sz="3000" dirty="0"/>
          </a:p>
        </p:txBody>
      </p:sp>
      <p:sp>
        <p:nvSpPr>
          <p:cNvPr id="4" name="Shape 2"/>
          <p:cNvSpPr/>
          <p:nvPr/>
        </p:nvSpPr>
        <p:spPr>
          <a:xfrm>
            <a:off x="548640" y="1463040"/>
            <a:ext cx="5943600" cy="4114800"/>
          </a:xfrm>
          <a:prstGeom prst="roundRect">
            <a:avLst>
              <a:gd name="adj" fmla="val 1778"/>
            </a:avLst>
          </a:prstGeom>
          <a:solidFill>
            <a:srgbClr val="0F0F1F"/>
          </a:solidFill>
          <a:ln/>
        </p:spPr>
      </p:sp>
      <p:sp>
        <p:nvSpPr>
          <p:cNvPr id="5" name="Text 3"/>
          <p:cNvSpPr/>
          <p:nvPr/>
        </p:nvSpPr>
        <p:spPr>
          <a:xfrm>
            <a:off x="777240" y="1600200"/>
            <a:ext cx="5486400" cy="274320"/>
          </a:xfrm>
          <a:prstGeom prst="rect">
            <a:avLst/>
          </a:prstGeom>
          <a:noFill/>
          <a:ln/>
        </p:spPr>
        <p:txBody>
          <a:bodyPr wrap="square" lIns="0" tIns="0" rIns="0" bIns="0" rtlCol="0" anchor="ctr"/>
          <a:lstStyle/>
          <a:p>
            <a:pPr indent="0" marL="0">
              <a:buNone/>
            </a:pPr>
            <a:r>
              <a:rPr lang="en-US" sz="1000" b="1" dirty="0">
                <a:solidFill>
                  <a:srgbClr val="FFD166"/>
                </a:solidFill>
                <a:latin typeface="Courier New" pitchFamily="34" charset="0"/>
                <a:ea typeface="Courier New" pitchFamily="34" charset="-122"/>
                <a:cs typeface="Courier New" pitchFamily="34" charset="-120"/>
              </a:rPr>
              <a:t>ruta de servidor como intermediario</a:t>
            </a:r>
            <a:endParaRPr lang="en-US" sz="1000" dirty="0"/>
          </a:p>
        </p:txBody>
      </p:sp>
      <p:sp>
        <p:nvSpPr>
          <p:cNvPr id="6" name="Text 4"/>
          <p:cNvSpPr/>
          <p:nvPr/>
        </p:nvSpPr>
        <p:spPr>
          <a:xfrm>
            <a:off x="777240" y="1938528"/>
            <a:ext cx="5486400" cy="3456432"/>
          </a:xfrm>
          <a:prstGeom prst="rect">
            <a:avLst/>
          </a:prstGeom>
          <a:noFill/>
          <a:ln/>
        </p:spPr>
        <p:txBody>
          <a:bodyPr wrap="square" lIns="0" tIns="0" rIns="0" bIns="0" rtlCol="0" anchor="t"/>
          <a:lstStyle/>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app/api/narrar/route.ts</a:t>
            </a: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La clave vive AQUI, en el servidor.</a:t>
            </a: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Nunca en el cliente.</a:t>
            </a:r>
            <a:endParaRPr lang="en-US" sz="1000" dirty="0"/>
          </a:p>
          <a:p>
            <a:pPr indent="0" marL="0">
              <a:lnSpc>
                <a:spcPts val="1500"/>
              </a:lnSpc>
              <a:buNone/>
            </a:pP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export async function POST(req: Request) {</a:t>
            </a: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const { partida } = await req.json();</a:t>
            </a:r>
            <a:endParaRPr lang="en-US" sz="1000" dirty="0"/>
          </a:p>
          <a:p>
            <a:pPr indent="0" marL="0">
              <a:lnSpc>
                <a:spcPts val="1500"/>
              </a:lnSpc>
              <a:buNone/>
            </a:pP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const r = await fetch(API_LLM, {</a:t>
            </a: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headers: {</a:t>
            </a: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Authorization: `Bearer ${process.env.CLAVE}`,</a:t>
            </a: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body: JSON.stringify({ prompt: ... }),</a:t>
            </a: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a:t>
            </a:r>
            <a:endParaRPr lang="en-US" sz="1000" dirty="0"/>
          </a:p>
          <a:p>
            <a:pPr indent="0" marL="0">
              <a:lnSpc>
                <a:spcPts val="1500"/>
              </a:lnSpc>
              <a:buNone/>
            </a:pP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const texto = await r.json();</a:t>
            </a: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return Response.json({</a:t>
            </a: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texto: sanear(texto),  // SIEMPRE</a:t>
            </a: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dirty="0">
                <a:solidFill>
                  <a:srgbClr val="E8E8F5"/>
                </a:solidFill>
                <a:latin typeface="Courier New" pitchFamily="34" charset="0"/>
                <a:ea typeface="Courier New" pitchFamily="34" charset="-122"/>
                <a:cs typeface="Courier New" pitchFamily="34" charset="-120"/>
              </a:rPr>
              <a:t>}</a:t>
            </a:r>
            <a:endParaRPr lang="en-US" sz="1000" dirty="0"/>
          </a:p>
        </p:txBody>
      </p:sp>
      <p:sp>
        <p:nvSpPr>
          <p:cNvPr id="7" name="Shape 5"/>
          <p:cNvSpPr/>
          <p:nvPr/>
        </p:nvSpPr>
        <p:spPr>
          <a:xfrm>
            <a:off x="6766560" y="1463040"/>
            <a:ext cx="4846320" cy="987552"/>
          </a:xfrm>
          <a:prstGeom prst="roundRect">
            <a:avLst>
              <a:gd name="adj" fmla="val 8333"/>
            </a:avLst>
          </a:prstGeom>
          <a:solidFill>
            <a:srgbClr val="FF4D6D"/>
          </a:solidFill>
          <a:ln/>
        </p:spPr>
      </p:sp>
      <p:sp>
        <p:nvSpPr>
          <p:cNvPr id="8" name="Text 6"/>
          <p:cNvSpPr/>
          <p:nvPr/>
        </p:nvSpPr>
        <p:spPr>
          <a:xfrm>
            <a:off x="7022592" y="1591056"/>
            <a:ext cx="4334256" cy="310896"/>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La clave, jamas en el cliente</a:t>
            </a:r>
            <a:endParaRPr lang="en-US" sz="1350" dirty="0"/>
          </a:p>
        </p:txBody>
      </p:sp>
      <p:sp>
        <p:nvSpPr>
          <p:cNvPr id="9" name="Text 7"/>
          <p:cNvSpPr/>
          <p:nvPr/>
        </p:nvSpPr>
        <p:spPr>
          <a:xfrm>
            <a:off x="7022592" y="1920240"/>
            <a:ext cx="4334256" cy="402336"/>
          </a:xfrm>
          <a:prstGeom prst="rect">
            <a:avLst/>
          </a:prstGeom>
          <a:noFill/>
          <a:ln/>
        </p:spPr>
        <p:txBody>
          <a:bodyPr wrap="square" lIns="0" tIns="0" rIns="0" bIns="0" rtlCol="0" anchor="t"/>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Si esta en el navegador, cualquiera la ve y la usa a tu costa. Es el fallo de seguridad mas comun del ano.</a:t>
            </a:r>
            <a:endParaRPr lang="en-US" sz="1150" dirty="0"/>
          </a:p>
        </p:txBody>
      </p:sp>
      <p:sp>
        <p:nvSpPr>
          <p:cNvPr id="10" name="Shape 8"/>
          <p:cNvSpPr/>
          <p:nvPr/>
        </p:nvSpPr>
        <p:spPr>
          <a:xfrm>
            <a:off x="6766560" y="2560320"/>
            <a:ext cx="4846320" cy="987552"/>
          </a:xfrm>
          <a:prstGeom prst="roundRect">
            <a:avLst>
              <a:gd name="adj" fmla="val 8333"/>
            </a:avLst>
          </a:prstGeom>
          <a:solidFill>
            <a:srgbClr val="F2F3F7"/>
          </a:solidFill>
          <a:ln/>
        </p:spPr>
      </p:sp>
      <p:sp>
        <p:nvSpPr>
          <p:cNvPr id="11" name="Text 9"/>
          <p:cNvSpPr/>
          <p:nvPr/>
        </p:nvSpPr>
        <p:spPr>
          <a:xfrm>
            <a:off x="7022592" y="2688336"/>
            <a:ext cx="4334256" cy="310896"/>
          </a:xfrm>
          <a:prstGeom prst="rect">
            <a:avLst/>
          </a:prstGeom>
          <a:noFill/>
          <a:ln/>
        </p:spPr>
        <p:txBody>
          <a:bodyPr wrap="square" lIns="0" tIns="0" rIns="0" bIns="0" rtlCol="0" anchor="t"/>
          <a:lstStyle/>
          <a:p>
            <a:pPr indent="0" marL="0">
              <a:buNone/>
            </a:pPr>
            <a:r>
              <a:rPr lang="en-US" sz="1350" b="1" dirty="0">
                <a:solidFill>
                  <a:srgbClr val="1A1A2E"/>
                </a:solidFill>
                <a:latin typeface="Calibri" pitchFamily="34" charset="0"/>
                <a:ea typeface="Calibri" pitchFamily="34" charset="-122"/>
                <a:cs typeface="Calibri" pitchFamily="34" charset="-120"/>
              </a:rPr>
              <a:t>La salida es entrada no confiable</a:t>
            </a:r>
            <a:endParaRPr lang="en-US" sz="1350" dirty="0"/>
          </a:p>
        </p:txBody>
      </p:sp>
      <p:sp>
        <p:nvSpPr>
          <p:cNvPr id="12" name="Text 10"/>
          <p:cNvSpPr/>
          <p:nvPr/>
        </p:nvSpPr>
        <p:spPr>
          <a:xfrm>
            <a:off x="7022592" y="3017520"/>
            <a:ext cx="4334256" cy="402336"/>
          </a:xfrm>
          <a:prstGeom prst="rect">
            <a:avLst/>
          </a:prstGeom>
          <a:noFill/>
          <a:ln/>
        </p:spPr>
        <p:txBody>
          <a:bodyPr wrap="square" lIns="0" tIns="0" rIns="0" bIns="0" rtlCol="0" anchor="t"/>
          <a:lstStyle/>
          <a:p>
            <a:pPr indent="0" marL="0">
              <a:lnSpc>
                <a:spcPts val="1500"/>
              </a:lnSpc>
              <a:buNone/>
            </a:pPr>
            <a:r>
              <a:rPr lang="en-US" sz="1150" dirty="0">
                <a:solidFill>
                  <a:srgbClr val="1A1A2E"/>
                </a:solidFill>
                <a:latin typeface="Calibri" pitchFamily="34" charset="0"/>
                <a:ea typeface="Calibri" pitchFamily="34" charset="-122"/>
                <a:cs typeface="Calibri" pitchFamily="34" charset="-120"/>
              </a:rPr>
              <a:t>Un LLM puede devolver HTML, guiones de script o texto que rompe tu interfaz. Validar y sanear siempre.</a:t>
            </a:r>
            <a:endParaRPr lang="en-US" sz="1150" dirty="0"/>
          </a:p>
        </p:txBody>
      </p:sp>
      <p:sp>
        <p:nvSpPr>
          <p:cNvPr id="13" name="Shape 11"/>
          <p:cNvSpPr/>
          <p:nvPr/>
        </p:nvSpPr>
        <p:spPr>
          <a:xfrm>
            <a:off x="6766560" y="3657600"/>
            <a:ext cx="4846320" cy="987552"/>
          </a:xfrm>
          <a:prstGeom prst="roundRect">
            <a:avLst>
              <a:gd name="adj" fmla="val 8333"/>
            </a:avLst>
          </a:prstGeom>
          <a:solidFill>
            <a:srgbClr val="F2F3F7"/>
          </a:solidFill>
          <a:ln/>
        </p:spPr>
      </p:sp>
      <p:sp>
        <p:nvSpPr>
          <p:cNvPr id="14" name="Text 12"/>
          <p:cNvSpPr/>
          <p:nvPr/>
        </p:nvSpPr>
        <p:spPr>
          <a:xfrm>
            <a:off x="7022592" y="3785616"/>
            <a:ext cx="4334256" cy="310896"/>
          </a:xfrm>
          <a:prstGeom prst="rect">
            <a:avLst/>
          </a:prstGeom>
          <a:noFill/>
          <a:ln/>
        </p:spPr>
        <p:txBody>
          <a:bodyPr wrap="square" lIns="0" tIns="0" rIns="0" bIns="0" rtlCol="0" anchor="t"/>
          <a:lstStyle/>
          <a:p>
            <a:pPr indent="0" marL="0">
              <a:buNone/>
            </a:pPr>
            <a:r>
              <a:rPr lang="en-US" sz="1350" b="1" dirty="0">
                <a:solidFill>
                  <a:srgbClr val="1A1A2E"/>
                </a:solidFill>
                <a:latin typeface="Calibri" pitchFamily="34" charset="0"/>
                <a:ea typeface="Calibri" pitchFamily="34" charset="-122"/>
                <a:cs typeface="Calibri" pitchFamily="34" charset="-120"/>
              </a:rPr>
              <a:t>Diseña para la latencia</a:t>
            </a:r>
            <a:endParaRPr lang="en-US" sz="1350" dirty="0"/>
          </a:p>
        </p:txBody>
      </p:sp>
      <p:sp>
        <p:nvSpPr>
          <p:cNvPr id="15" name="Text 13"/>
          <p:cNvSpPr/>
          <p:nvPr/>
        </p:nvSpPr>
        <p:spPr>
          <a:xfrm>
            <a:off x="7022592" y="4114800"/>
            <a:ext cx="4334256" cy="402336"/>
          </a:xfrm>
          <a:prstGeom prst="rect">
            <a:avLst/>
          </a:prstGeom>
          <a:noFill/>
          <a:ln/>
        </p:spPr>
        <p:txBody>
          <a:bodyPr wrap="square" lIns="0" tIns="0" rIns="0" bIns="0" rtlCol="0" anchor="t"/>
          <a:lstStyle/>
          <a:p>
            <a:pPr indent="0" marL="0">
              <a:lnSpc>
                <a:spcPts val="1500"/>
              </a:lnSpc>
              <a:buNone/>
            </a:pPr>
            <a:r>
              <a:rPr lang="en-US" sz="1150" dirty="0">
                <a:solidFill>
                  <a:srgbClr val="1A1A2E"/>
                </a:solidFill>
                <a:latin typeface="Calibri" pitchFamily="34" charset="0"/>
                <a:ea typeface="Calibri" pitchFamily="34" charset="-122"/>
                <a:cs typeface="Calibri" pitchFamily="34" charset="-120"/>
              </a:rPr>
              <a:t>Va a tardar segundos. Muestra progreso, permite cancelar, y ten un plan para cuando falle.</a:t>
            </a:r>
            <a:endParaRPr lang="en-US" sz="1150" dirty="0"/>
          </a:p>
        </p:txBody>
      </p:sp>
      <p:sp>
        <p:nvSpPr>
          <p:cNvPr id="16" name="Shape 14"/>
          <p:cNvSpPr/>
          <p:nvPr/>
        </p:nvSpPr>
        <p:spPr>
          <a:xfrm>
            <a:off x="6766560" y="4754880"/>
            <a:ext cx="4846320" cy="987552"/>
          </a:xfrm>
          <a:prstGeom prst="roundRect">
            <a:avLst>
              <a:gd name="adj" fmla="val 8333"/>
            </a:avLst>
          </a:prstGeom>
          <a:solidFill>
            <a:srgbClr val="F2F3F7"/>
          </a:solidFill>
          <a:ln/>
        </p:spPr>
      </p:sp>
      <p:sp>
        <p:nvSpPr>
          <p:cNvPr id="17" name="Text 15"/>
          <p:cNvSpPr/>
          <p:nvPr/>
        </p:nvSpPr>
        <p:spPr>
          <a:xfrm>
            <a:off x="7022592" y="4882896"/>
            <a:ext cx="4334256" cy="310896"/>
          </a:xfrm>
          <a:prstGeom prst="rect">
            <a:avLst/>
          </a:prstGeom>
          <a:noFill/>
          <a:ln/>
        </p:spPr>
        <p:txBody>
          <a:bodyPr wrap="square" lIns="0" tIns="0" rIns="0" bIns="0" rtlCol="0" anchor="t"/>
          <a:lstStyle/>
          <a:p>
            <a:pPr indent="0" marL="0">
              <a:buNone/>
            </a:pPr>
            <a:r>
              <a:rPr lang="en-US" sz="1350" b="1" dirty="0">
                <a:solidFill>
                  <a:srgbClr val="1A1A2E"/>
                </a:solidFill>
                <a:latin typeface="Calibri" pitchFamily="34" charset="0"/>
                <a:ea typeface="Calibri" pitchFamily="34" charset="-122"/>
                <a:cs typeface="Calibri" pitchFamily="34" charset="-120"/>
              </a:rPr>
              <a:t>Cuesta dinero por llamada</a:t>
            </a:r>
            <a:endParaRPr lang="en-US" sz="1350" dirty="0"/>
          </a:p>
        </p:txBody>
      </p:sp>
      <p:sp>
        <p:nvSpPr>
          <p:cNvPr id="18" name="Text 16"/>
          <p:cNvSpPr/>
          <p:nvPr/>
        </p:nvSpPr>
        <p:spPr>
          <a:xfrm>
            <a:off x="7022592" y="5212080"/>
            <a:ext cx="4334256" cy="402336"/>
          </a:xfrm>
          <a:prstGeom prst="rect">
            <a:avLst/>
          </a:prstGeom>
          <a:noFill/>
          <a:ln/>
        </p:spPr>
        <p:txBody>
          <a:bodyPr wrap="square" lIns="0" tIns="0" rIns="0" bIns="0" rtlCol="0" anchor="t"/>
          <a:lstStyle/>
          <a:p>
            <a:pPr indent="0" marL="0">
              <a:lnSpc>
                <a:spcPts val="1500"/>
              </a:lnSpc>
              <a:buNone/>
            </a:pPr>
            <a:r>
              <a:rPr lang="en-US" sz="1150" dirty="0">
                <a:solidFill>
                  <a:srgbClr val="1A1A2E"/>
                </a:solidFill>
                <a:latin typeface="Calibri" pitchFamily="34" charset="0"/>
                <a:ea typeface="Calibri" pitchFamily="34" charset="-122"/>
                <a:cs typeface="Calibri" pitchFamily="34" charset="-120"/>
              </a:rPr>
              <a:t>Pon limites. Un bucle infinito con una API de pago es una factura sorpresa.</a:t>
            </a:r>
            <a:endParaRPr lang="en-US" sz="1150" dirty="0"/>
          </a:p>
        </p:txBody>
      </p:sp>
      <p:sp>
        <p:nvSpPr>
          <p:cNvPr id="19" name="Shape 17"/>
          <p:cNvSpPr/>
          <p:nvPr/>
        </p:nvSpPr>
        <p:spPr>
          <a:xfrm>
            <a:off x="548640" y="5715000"/>
            <a:ext cx="11064240" cy="640080"/>
          </a:xfrm>
          <a:prstGeom prst="roundRect">
            <a:avLst>
              <a:gd name="adj" fmla="val 12857"/>
            </a:avLst>
          </a:prstGeom>
          <a:solidFill>
            <a:srgbClr val="FFD166"/>
          </a:solidFill>
          <a:ln/>
        </p:spPr>
      </p:sp>
      <p:sp>
        <p:nvSpPr>
          <p:cNvPr id="20" name="Text 18"/>
          <p:cNvSpPr/>
          <p:nvPr/>
        </p:nvSpPr>
        <p:spPr>
          <a:xfrm>
            <a:off x="868680" y="5788152"/>
            <a:ext cx="10424160" cy="493776"/>
          </a:xfrm>
          <a:prstGeom prst="rect">
            <a:avLst/>
          </a:prstGeom>
          <a:noFill/>
          <a:ln/>
        </p:spPr>
        <p:txBody>
          <a:bodyPr wrap="square" lIns="0" tIns="0" rIns="0" bIns="0" rtlCol="0" anchor="ctr"/>
          <a:lstStyle/>
          <a:p>
            <a:pPr indent="0" marL="0">
              <a:lnSpc>
                <a:spcPts val="1620"/>
              </a:lnSpc>
              <a:buNone/>
            </a:pPr>
            <a:r>
              <a:rPr lang="en-US" sz="1200" b="1" dirty="0">
                <a:solidFill>
                  <a:srgbClr val="1A1A2E"/>
                </a:solidFill>
                <a:latin typeface="Calibri" pitchFamily="34" charset="0"/>
                <a:ea typeface="Calibri" pitchFamily="34" charset="-122"/>
                <a:cs typeface="Calibri" pitchFamily="34" charset="-120"/>
              </a:rPr>
              <a:t>Fuente: OWASP Top Ten. Un modelo de lenguaje se trata con la misma desconfianza que un formulario de internet.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62E"/>
        </a:solidFill>
      </p:bgPr>
    </p:bg>
    <p:spTree>
      <p:nvGrpSpPr>
        <p:cNvPr id="1" name=""/>
        <p:cNvGrpSpPr/>
        <p:nvPr/>
      </p:nvGrpSpPr>
      <p:grpSpPr>
        <a:xfrm>
          <a:off x="0" y="0"/>
          <a:ext cx="0" cy="0"/>
          <a:chOff x="0" y="0"/>
          <a:chExt cx="0" cy="0"/>
        </a:xfrm>
      </p:grpSpPr>
      <p:sp>
        <p:nvSpPr>
          <p:cNvPr id="2" name="Shape 0"/>
          <p:cNvSpPr/>
          <p:nvPr/>
        </p:nvSpPr>
        <p:spPr>
          <a:xfrm>
            <a:off x="548640" y="384048"/>
            <a:ext cx="2286000" cy="502920"/>
          </a:xfrm>
          <a:prstGeom prst="roundRect">
            <a:avLst>
              <a:gd name="adj" fmla="val 18182"/>
            </a:avLst>
          </a:prstGeom>
          <a:solidFill>
            <a:srgbClr val="FF4D6D"/>
          </a:solidFill>
          <a:ln/>
        </p:spPr>
      </p:sp>
      <p:sp>
        <p:nvSpPr>
          <p:cNvPr id="3" name="Text 1"/>
          <p:cNvSpPr/>
          <p:nvPr/>
        </p:nvSpPr>
        <p:spPr>
          <a:xfrm>
            <a:off x="548640" y="384048"/>
            <a:ext cx="2286000" cy="502920"/>
          </a:xfrm>
          <a:prstGeom prst="rect">
            <a:avLst/>
          </a:prstGeom>
          <a:noFill/>
          <a:ln/>
        </p:spPr>
        <p:txBody>
          <a:bodyPr wrap="square" lIns="0" tIns="0" rIns="0" bIns="0" rtlCol="0" anchor="ctr"/>
          <a:lstStyle/>
          <a:p>
            <a:pPr algn="ctr" indent="0" marL="0">
              <a:buNone/>
            </a:pPr>
            <a:r>
              <a:rPr lang="en-US" sz="1400" b="1" spc="150" kern="0" dirty="0">
                <a:solidFill>
                  <a:srgbClr val="FFFFFF"/>
                </a:solidFill>
                <a:latin typeface="Calibri" pitchFamily="34" charset="0"/>
                <a:ea typeface="Calibri" pitchFamily="34" charset="-122"/>
                <a:cs typeface="Calibri" pitchFamily="34" charset="-120"/>
              </a:rPr>
              <a:t>MISION 06</a:t>
            </a:r>
            <a:endParaRPr lang="en-US" sz="1400" dirty="0"/>
          </a:p>
        </p:txBody>
      </p:sp>
      <p:sp>
        <p:nvSpPr>
          <p:cNvPr id="4" name="Text 2"/>
          <p:cNvSpPr/>
          <p:nvPr/>
        </p:nvSpPr>
        <p:spPr>
          <a:xfrm>
            <a:off x="2971800" y="384048"/>
            <a:ext cx="1645920" cy="502920"/>
          </a:xfrm>
          <a:prstGeom prst="rect">
            <a:avLst/>
          </a:prstGeom>
          <a:noFill/>
          <a:ln/>
        </p:spPr>
        <p:txBody>
          <a:bodyPr wrap="square" lIns="0" tIns="0" rIns="0" bIns="0" rtlCol="0" anchor="ctr"/>
          <a:lstStyle/>
          <a:p>
            <a:pPr indent="0" marL="0">
              <a:buNone/>
            </a:pPr>
            <a:r>
              <a:rPr lang="en-US" sz="1700" b="1" dirty="0">
                <a:solidFill>
                  <a:srgbClr val="FFD166"/>
                </a:solidFill>
                <a:latin typeface="Calibri" pitchFamily="34" charset="0"/>
                <a:ea typeface="Calibri" pitchFamily="34" charset="-122"/>
                <a:cs typeface="Calibri" pitchFamily="34" charset="-120"/>
              </a:rPr>
              <a:t>100 XP</a:t>
            </a:r>
            <a:endParaRPr lang="en-US" sz="1700" dirty="0"/>
          </a:p>
        </p:txBody>
      </p:sp>
      <p:sp>
        <p:nvSpPr>
          <p:cNvPr id="5" name="Shape 3"/>
          <p:cNvSpPr/>
          <p:nvPr/>
        </p:nvSpPr>
        <p:spPr>
          <a:xfrm>
            <a:off x="4709160" y="384048"/>
            <a:ext cx="3200400" cy="502920"/>
          </a:xfrm>
          <a:prstGeom prst="roundRect">
            <a:avLst>
              <a:gd name="adj" fmla="val 18182"/>
            </a:avLst>
          </a:prstGeom>
          <a:solidFill>
            <a:srgbClr val="2E2E5C"/>
          </a:solidFill>
          <a:ln/>
        </p:spPr>
      </p:sp>
      <p:sp>
        <p:nvSpPr>
          <p:cNvPr id="6" name="Text 4"/>
          <p:cNvSpPr/>
          <p:nvPr/>
        </p:nvSpPr>
        <p:spPr>
          <a:xfrm>
            <a:off x="4709160" y="384048"/>
            <a:ext cx="3200400" cy="502920"/>
          </a:xfrm>
          <a:prstGeom prst="rect">
            <a:avLst/>
          </a:prstGeom>
          <a:noFill/>
          <a:ln/>
        </p:spPr>
        <p:txBody>
          <a:bodyPr wrap="square" lIns="0" tIns="0" rIns="0" bIns="0" rtlCol="0" anchor="ctr"/>
          <a:lstStyle/>
          <a:p>
            <a:pPr algn="ctr" indent="0" marL="0">
              <a:buNone/>
            </a:pPr>
            <a:r>
              <a:rPr lang="en-US" sz="1150" b="1" dirty="0">
                <a:solidFill>
                  <a:srgbClr val="4ECDC4"/>
                </a:solidFill>
                <a:latin typeface="Calibri" pitchFamily="34" charset="0"/>
                <a:ea typeface="Calibri" pitchFamily="34" charset="-122"/>
                <a:cs typeface="Calibri" pitchFamily="34" charset="-120"/>
              </a:rPr>
              <a:t>10 h de trabajo autonomo</a:t>
            </a:r>
            <a:endParaRPr lang="en-US" sz="1150" dirty="0"/>
          </a:p>
        </p:txBody>
      </p:sp>
      <p:sp>
        <p:nvSpPr>
          <p:cNvPr id="7" name="Text 5"/>
          <p:cNvSpPr/>
          <p:nvPr/>
        </p:nvSpPr>
        <p:spPr>
          <a:xfrm>
            <a:off x="548640" y="1024128"/>
            <a:ext cx="11064240"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Mazmorra por turnos en React</a:t>
            </a:r>
            <a:endParaRPr lang="en-US" sz="3000" dirty="0"/>
          </a:p>
        </p:txBody>
      </p:sp>
      <p:sp>
        <p:nvSpPr>
          <p:cNvPr id="8" name="Text 6"/>
          <p:cNvSpPr/>
          <p:nvPr/>
        </p:nvSpPr>
        <p:spPr>
          <a:xfrm>
            <a:off x="548640" y="1691640"/>
            <a:ext cx="11064240" cy="685800"/>
          </a:xfrm>
          <a:prstGeom prst="rect">
            <a:avLst/>
          </a:prstGeom>
          <a:noFill/>
          <a:ln/>
        </p:spPr>
        <p:txBody>
          <a:bodyPr wrap="square" lIns="0" tIns="0" rIns="0" bIns="0" rtlCol="0" anchor="t"/>
          <a:lstStyle/>
          <a:p>
            <a:pPr indent="0" marL="0">
              <a:lnSpc>
                <a:spcPts val="2000"/>
              </a:lnSpc>
              <a:buNone/>
            </a:pPr>
            <a:r>
              <a:rPr lang="en-US" sz="1300" i="1" dirty="0">
                <a:solidFill>
                  <a:srgbClr val="F2F3F7"/>
                </a:solidFill>
                <a:latin typeface="Calibri" pitchFamily="34" charset="0"/>
                <a:ea typeface="Calibri" pitchFamily="34" charset="-122"/>
                <a:cs typeface="Calibri" pitchFamily="34" charset="-120"/>
              </a:rPr>
              <a:t>Un juego de exploracion por turnos con cuadricula, personaje que se mueve, enemigos, combate, inventario y puntos de vida. El reto real no es el juego: es la arquitectura. Si pones todo el estado en la raiz vas a sufrir; si lo dispersas, se desincroniza.</a:t>
            </a:r>
            <a:endParaRPr lang="en-US" sz="1300" dirty="0"/>
          </a:p>
        </p:txBody>
      </p:sp>
      <p:sp>
        <p:nvSpPr>
          <p:cNvPr id="9" name="Shape 7"/>
          <p:cNvSpPr/>
          <p:nvPr/>
        </p:nvSpPr>
        <p:spPr>
          <a:xfrm>
            <a:off x="548640" y="2542032"/>
            <a:ext cx="5394960" cy="2331720"/>
          </a:xfrm>
          <a:prstGeom prst="roundRect">
            <a:avLst>
              <a:gd name="adj" fmla="val 3922"/>
            </a:avLst>
          </a:prstGeom>
          <a:solidFill>
            <a:srgbClr val="2E2E5C"/>
          </a:solidFill>
          <a:ln/>
        </p:spPr>
      </p:sp>
      <p:sp>
        <p:nvSpPr>
          <p:cNvPr id="10" name="Text 8"/>
          <p:cNvSpPr/>
          <p:nvPr/>
        </p:nvSpPr>
        <p:spPr>
          <a:xfrm>
            <a:off x="777240" y="2697480"/>
            <a:ext cx="4937760" cy="274320"/>
          </a:xfrm>
          <a:prstGeom prst="rect">
            <a:avLst/>
          </a:prstGeom>
          <a:noFill/>
          <a:ln/>
        </p:spPr>
        <p:txBody>
          <a:bodyPr wrap="square" lIns="0" tIns="0" rIns="0" bIns="0" rtlCol="0" anchor="ctr"/>
          <a:lstStyle/>
          <a:p>
            <a:pPr indent="0" marL="0">
              <a:buNone/>
            </a:pPr>
            <a:r>
              <a:rPr lang="en-US" sz="1100" b="1" spc="150" kern="0" dirty="0">
                <a:solidFill>
                  <a:srgbClr val="4ECDC4"/>
                </a:solidFill>
                <a:latin typeface="Calibri" pitchFamily="34" charset="0"/>
                <a:ea typeface="Calibri" pitchFamily="34" charset="-122"/>
                <a:cs typeface="Calibri" pitchFamily="34" charset="-120"/>
              </a:rPr>
              <a:t>QUE DEBE TENER</a:t>
            </a:r>
            <a:endParaRPr lang="en-US" sz="1100" dirty="0"/>
          </a:p>
        </p:txBody>
      </p:sp>
      <p:sp>
        <p:nvSpPr>
          <p:cNvPr id="11" name="Text 9"/>
          <p:cNvSpPr/>
          <p:nvPr/>
        </p:nvSpPr>
        <p:spPr>
          <a:xfrm>
            <a:off x="777240" y="3035808"/>
            <a:ext cx="4937760" cy="1737360"/>
          </a:xfrm>
          <a:prstGeom prst="rect">
            <a:avLst/>
          </a:prstGeom>
          <a:noFill/>
          <a:ln/>
        </p:spPr>
        <p:txBody>
          <a:bodyPr wrap="square" lIns="0" tIns="0" rIns="0" bIns="0" rtlCol="0" anchor="t"/>
          <a:lstStyle/>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Cuadricula con personaje que se mueve</a:t>
            </a:r>
            <a:endParaRPr lang="en-US" sz="1150" dirty="0"/>
          </a:p>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Enemigos y combate por turnos</a:t>
            </a:r>
            <a:endParaRPr lang="en-US" sz="1150" dirty="0"/>
          </a:p>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Inventario y puntos de vida</a:t>
            </a:r>
            <a:endParaRPr lang="en-US" sz="1150" dirty="0"/>
          </a:p>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Todo con componentes de React</a:t>
            </a:r>
            <a:endParaRPr lang="en-US" sz="1150" dirty="0"/>
          </a:p>
        </p:txBody>
      </p:sp>
      <p:sp>
        <p:nvSpPr>
          <p:cNvPr id="12" name="Shape 10"/>
          <p:cNvSpPr/>
          <p:nvPr/>
        </p:nvSpPr>
        <p:spPr>
          <a:xfrm>
            <a:off x="6217920" y="2542032"/>
            <a:ext cx="5394960" cy="2331720"/>
          </a:xfrm>
          <a:prstGeom prst="roundRect">
            <a:avLst>
              <a:gd name="adj" fmla="val 3922"/>
            </a:avLst>
          </a:prstGeom>
          <a:solidFill>
            <a:srgbClr val="2E2E5C"/>
          </a:solidFill>
          <a:ln/>
        </p:spPr>
      </p:sp>
      <p:sp>
        <p:nvSpPr>
          <p:cNvPr id="13" name="Text 11"/>
          <p:cNvSpPr/>
          <p:nvPr/>
        </p:nvSpPr>
        <p:spPr>
          <a:xfrm>
            <a:off x="6446520" y="2697480"/>
            <a:ext cx="4937760" cy="274320"/>
          </a:xfrm>
          <a:prstGeom prst="rect">
            <a:avLst/>
          </a:prstGeom>
          <a:noFill/>
          <a:ln/>
        </p:spPr>
        <p:txBody>
          <a:bodyPr wrap="square" lIns="0" tIns="0" rIns="0" bIns="0" rtlCol="0" anchor="ctr"/>
          <a:lstStyle/>
          <a:p>
            <a:pPr indent="0" marL="0">
              <a:buNone/>
            </a:pPr>
            <a:r>
              <a:rPr lang="en-US" sz="1100" b="1" spc="150" kern="0" dirty="0">
                <a:solidFill>
                  <a:srgbClr val="FFD166"/>
                </a:solidFill>
                <a:latin typeface="Calibri" pitchFamily="34" charset="0"/>
                <a:ea typeface="Calibri" pitchFamily="34" charset="-122"/>
                <a:cs typeface="Calibri" pitchFamily="34" charset="-120"/>
              </a:rPr>
              <a:t>LOS 20 XP ESPECIFICOS DEL MODULO</a:t>
            </a:r>
            <a:endParaRPr lang="en-US" sz="1100" dirty="0"/>
          </a:p>
        </p:txBody>
      </p:sp>
      <p:sp>
        <p:nvSpPr>
          <p:cNvPr id="14" name="Text 12"/>
          <p:cNvSpPr/>
          <p:nvPr/>
        </p:nvSpPr>
        <p:spPr>
          <a:xfrm>
            <a:off x="6446520" y="3035808"/>
            <a:ext cx="4937760" cy="1737360"/>
          </a:xfrm>
          <a:prstGeom prst="rect">
            <a:avLst/>
          </a:prstGeom>
          <a:noFill/>
          <a:ln/>
        </p:spPr>
        <p:txBody>
          <a:bodyPr wrap="square" lIns="0" tIns="0" rIns="0" bIns="0" rtlCol="0" anchor="t"/>
          <a:lstStyle/>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Componentes con una sola responsabilidad (6)</a:t>
            </a:r>
            <a:endParaRPr lang="en-US" sz="1150" dirty="0"/>
          </a:p>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Estado en el nivel correcto, sin duplicar (6)</a:t>
            </a:r>
            <a:endParaRPr lang="en-US" sz="1150" dirty="0"/>
          </a:p>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Claves estables en listas, no el indice (4)</a:t>
            </a:r>
            <a:endParaRPr lang="en-US" sz="1150" dirty="0"/>
          </a:p>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Efectos con dependencias y limpieza (4)</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62E"/>
        </a:solidFill>
      </p:bgPr>
    </p:bg>
    <p:spTree>
      <p:nvGrpSpPr>
        <p:cNvPr id="1" name=""/>
        <p:cNvGrpSpPr/>
        <p:nvPr/>
      </p:nvGrpSpPr>
      <p:grpSpPr>
        <a:xfrm>
          <a:off x="0" y="0"/>
          <a:ext cx="0" cy="0"/>
          <a:chOff x="0" y="0"/>
          <a:chExt cx="0" cy="0"/>
        </a:xfrm>
      </p:grpSpPr>
      <p:sp>
        <p:nvSpPr>
          <p:cNvPr id="2" name="Shape 0"/>
          <p:cNvSpPr/>
          <p:nvPr/>
        </p:nvSpPr>
        <p:spPr>
          <a:xfrm>
            <a:off x="548640" y="384048"/>
            <a:ext cx="2286000" cy="502920"/>
          </a:xfrm>
          <a:prstGeom prst="roundRect">
            <a:avLst>
              <a:gd name="adj" fmla="val 18182"/>
            </a:avLst>
          </a:prstGeom>
          <a:solidFill>
            <a:srgbClr val="FF4D6D"/>
          </a:solidFill>
          <a:ln/>
        </p:spPr>
      </p:sp>
      <p:sp>
        <p:nvSpPr>
          <p:cNvPr id="3" name="Text 1"/>
          <p:cNvSpPr/>
          <p:nvPr/>
        </p:nvSpPr>
        <p:spPr>
          <a:xfrm>
            <a:off x="548640" y="384048"/>
            <a:ext cx="2286000" cy="502920"/>
          </a:xfrm>
          <a:prstGeom prst="rect">
            <a:avLst/>
          </a:prstGeom>
          <a:noFill/>
          <a:ln/>
        </p:spPr>
        <p:txBody>
          <a:bodyPr wrap="square" lIns="0" tIns="0" rIns="0" bIns="0" rtlCol="0" anchor="ctr"/>
          <a:lstStyle/>
          <a:p>
            <a:pPr algn="ctr" indent="0" marL="0">
              <a:buNone/>
            </a:pPr>
            <a:r>
              <a:rPr lang="en-US" sz="1400" b="1" spc="150" kern="0" dirty="0">
                <a:solidFill>
                  <a:srgbClr val="FFFFFF"/>
                </a:solidFill>
                <a:latin typeface="Calibri" pitchFamily="34" charset="0"/>
                <a:ea typeface="Calibri" pitchFamily="34" charset="-122"/>
                <a:cs typeface="Calibri" pitchFamily="34" charset="-120"/>
              </a:rPr>
              <a:t>MISION 07</a:t>
            </a:r>
            <a:endParaRPr lang="en-US" sz="1400" dirty="0"/>
          </a:p>
        </p:txBody>
      </p:sp>
      <p:sp>
        <p:nvSpPr>
          <p:cNvPr id="4" name="Text 2"/>
          <p:cNvSpPr/>
          <p:nvPr/>
        </p:nvSpPr>
        <p:spPr>
          <a:xfrm>
            <a:off x="2971800" y="384048"/>
            <a:ext cx="1645920" cy="502920"/>
          </a:xfrm>
          <a:prstGeom prst="rect">
            <a:avLst/>
          </a:prstGeom>
          <a:noFill/>
          <a:ln/>
        </p:spPr>
        <p:txBody>
          <a:bodyPr wrap="square" lIns="0" tIns="0" rIns="0" bIns="0" rtlCol="0" anchor="ctr"/>
          <a:lstStyle/>
          <a:p>
            <a:pPr indent="0" marL="0">
              <a:buNone/>
            </a:pPr>
            <a:r>
              <a:rPr lang="en-US" sz="1700" b="1" dirty="0">
                <a:solidFill>
                  <a:srgbClr val="FFD166"/>
                </a:solidFill>
                <a:latin typeface="Calibri" pitchFamily="34" charset="0"/>
                <a:ea typeface="Calibri" pitchFamily="34" charset="-122"/>
                <a:cs typeface="Calibri" pitchFamily="34" charset="-120"/>
              </a:rPr>
              <a:t>100 XP</a:t>
            </a:r>
            <a:endParaRPr lang="en-US" sz="1700" dirty="0"/>
          </a:p>
        </p:txBody>
      </p:sp>
      <p:sp>
        <p:nvSpPr>
          <p:cNvPr id="5" name="Shape 3"/>
          <p:cNvSpPr/>
          <p:nvPr/>
        </p:nvSpPr>
        <p:spPr>
          <a:xfrm>
            <a:off x="4709160" y="384048"/>
            <a:ext cx="3200400" cy="502920"/>
          </a:xfrm>
          <a:prstGeom prst="roundRect">
            <a:avLst>
              <a:gd name="adj" fmla="val 18182"/>
            </a:avLst>
          </a:prstGeom>
          <a:solidFill>
            <a:srgbClr val="2E2E5C"/>
          </a:solidFill>
          <a:ln/>
        </p:spPr>
      </p:sp>
      <p:sp>
        <p:nvSpPr>
          <p:cNvPr id="6" name="Text 4"/>
          <p:cNvSpPr/>
          <p:nvPr/>
        </p:nvSpPr>
        <p:spPr>
          <a:xfrm>
            <a:off x="4709160" y="384048"/>
            <a:ext cx="3200400" cy="502920"/>
          </a:xfrm>
          <a:prstGeom prst="rect">
            <a:avLst/>
          </a:prstGeom>
          <a:noFill/>
          <a:ln/>
        </p:spPr>
        <p:txBody>
          <a:bodyPr wrap="square" lIns="0" tIns="0" rIns="0" bIns="0" rtlCol="0" anchor="ctr"/>
          <a:lstStyle/>
          <a:p>
            <a:pPr algn="ctr" indent="0" marL="0">
              <a:buNone/>
            </a:pPr>
            <a:r>
              <a:rPr lang="en-US" sz="1150" b="1" dirty="0">
                <a:solidFill>
                  <a:srgbClr val="4ECDC4"/>
                </a:solidFill>
                <a:latin typeface="Calibri" pitchFamily="34" charset="0"/>
                <a:ea typeface="Calibri" pitchFamily="34" charset="-122"/>
                <a:cs typeface="Calibri" pitchFamily="34" charset="-120"/>
              </a:rPr>
              <a:t>9 h de trabajo autonomo</a:t>
            </a:r>
            <a:endParaRPr lang="en-US" sz="1150" dirty="0"/>
          </a:p>
        </p:txBody>
      </p:sp>
      <p:sp>
        <p:nvSpPr>
          <p:cNvPr id="7" name="Text 5"/>
          <p:cNvSpPr/>
          <p:nvPr/>
        </p:nvSpPr>
        <p:spPr>
          <a:xfrm>
            <a:off x="548640" y="1024128"/>
            <a:ext cx="11064240"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Marcador global con Next.js</a:t>
            </a:r>
            <a:endParaRPr lang="en-US" sz="3000" dirty="0"/>
          </a:p>
        </p:txBody>
      </p:sp>
      <p:sp>
        <p:nvSpPr>
          <p:cNvPr id="8" name="Text 6"/>
          <p:cNvSpPr/>
          <p:nvPr/>
        </p:nvSpPr>
        <p:spPr>
          <a:xfrm>
            <a:off x="548640" y="1691640"/>
            <a:ext cx="11064240" cy="685800"/>
          </a:xfrm>
          <a:prstGeom prst="rect">
            <a:avLst/>
          </a:prstGeom>
          <a:noFill/>
          <a:ln/>
        </p:spPr>
        <p:txBody>
          <a:bodyPr wrap="square" lIns="0" tIns="0" rIns="0" bIns="0" rtlCol="0" anchor="t"/>
          <a:lstStyle/>
          <a:p>
            <a:pPr indent="0" marL="0">
              <a:lnSpc>
                <a:spcPts val="2000"/>
              </a:lnSpc>
              <a:buNone/>
            </a:pPr>
            <a:r>
              <a:rPr lang="en-US" sz="1300" i="1" dirty="0">
                <a:solidFill>
                  <a:srgbClr val="F2F3F7"/>
                </a:solidFill>
                <a:latin typeface="Calibri" pitchFamily="34" charset="0"/>
                <a:ea typeface="Calibri" pitchFamily="34" charset="-122"/>
                <a:cs typeface="Calibri" pitchFamily="34" charset="-120"/>
              </a:rPr>
              <a:t>Migras tu mazmorra a Next.js y le agregas una tabla de puntajes global con persistencia real, mas una ruta de servidor que consulta un modelo de lenguaje para narrar cada partida. La justificacion de tus decisiones vale tanto como el codigo.</a:t>
            </a:r>
            <a:endParaRPr lang="en-US" sz="1300" dirty="0"/>
          </a:p>
        </p:txBody>
      </p:sp>
      <p:sp>
        <p:nvSpPr>
          <p:cNvPr id="9" name="Shape 7"/>
          <p:cNvSpPr/>
          <p:nvPr/>
        </p:nvSpPr>
        <p:spPr>
          <a:xfrm>
            <a:off x="548640" y="2542032"/>
            <a:ext cx="5394960" cy="2331720"/>
          </a:xfrm>
          <a:prstGeom prst="roundRect">
            <a:avLst>
              <a:gd name="adj" fmla="val 3922"/>
            </a:avLst>
          </a:prstGeom>
          <a:solidFill>
            <a:srgbClr val="2E2E5C"/>
          </a:solidFill>
          <a:ln/>
        </p:spPr>
      </p:sp>
      <p:sp>
        <p:nvSpPr>
          <p:cNvPr id="10" name="Text 8"/>
          <p:cNvSpPr/>
          <p:nvPr/>
        </p:nvSpPr>
        <p:spPr>
          <a:xfrm>
            <a:off x="777240" y="2697480"/>
            <a:ext cx="4937760" cy="274320"/>
          </a:xfrm>
          <a:prstGeom prst="rect">
            <a:avLst/>
          </a:prstGeom>
          <a:noFill/>
          <a:ln/>
        </p:spPr>
        <p:txBody>
          <a:bodyPr wrap="square" lIns="0" tIns="0" rIns="0" bIns="0" rtlCol="0" anchor="ctr"/>
          <a:lstStyle/>
          <a:p>
            <a:pPr indent="0" marL="0">
              <a:buNone/>
            </a:pPr>
            <a:r>
              <a:rPr lang="en-US" sz="1100" b="1" spc="150" kern="0" dirty="0">
                <a:solidFill>
                  <a:srgbClr val="4ECDC4"/>
                </a:solidFill>
                <a:latin typeface="Calibri" pitchFamily="34" charset="0"/>
                <a:ea typeface="Calibri" pitchFamily="34" charset="-122"/>
                <a:cs typeface="Calibri" pitchFamily="34" charset="-120"/>
              </a:rPr>
              <a:t>QUE DEBE TENER</a:t>
            </a:r>
            <a:endParaRPr lang="en-US" sz="1100" dirty="0"/>
          </a:p>
        </p:txBody>
      </p:sp>
      <p:sp>
        <p:nvSpPr>
          <p:cNvPr id="11" name="Text 9"/>
          <p:cNvSpPr/>
          <p:nvPr/>
        </p:nvSpPr>
        <p:spPr>
          <a:xfrm>
            <a:off x="777240" y="3035808"/>
            <a:ext cx="4937760" cy="1737360"/>
          </a:xfrm>
          <a:prstGeom prst="rect">
            <a:avLst/>
          </a:prstGeom>
          <a:noFill/>
          <a:ln/>
        </p:spPr>
        <p:txBody>
          <a:bodyPr wrap="square" lIns="0" tIns="0" rIns="0" bIns="0" rtlCol="0" anchor="t"/>
          <a:lstStyle/>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Tu mazmorra migrada a Next.js con App Router</a:t>
            </a:r>
            <a:endParaRPr lang="en-US" sz="1150" dirty="0"/>
          </a:p>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Tabla de puntajes global con persistencia</a:t>
            </a:r>
            <a:endParaRPr lang="en-US" sz="1150" dirty="0"/>
          </a:p>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Ruta de servidor que consulta un LLM</a:t>
            </a:r>
            <a:endParaRPr lang="en-US" sz="1150" dirty="0"/>
          </a:p>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En el README: la estrategia elegida por pagina</a:t>
            </a:r>
            <a:endParaRPr lang="en-US" sz="1150" dirty="0"/>
          </a:p>
        </p:txBody>
      </p:sp>
      <p:sp>
        <p:nvSpPr>
          <p:cNvPr id="12" name="Shape 10"/>
          <p:cNvSpPr/>
          <p:nvPr/>
        </p:nvSpPr>
        <p:spPr>
          <a:xfrm>
            <a:off x="6217920" y="2542032"/>
            <a:ext cx="5394960" cy="2331720"/>
          </a:xfrm>
          <a:prstGeom prst="roundRect">
            <a:avLst>
              <a:gd name="adj" fmla="val 3922"/>
            </a:avLst>
          </a:prstGeom>
          <a:solidFill>
            <a:srgbClr val="2E2E5C"/>
          </a:solidFill>
          <a:ln/>
        </p:spPr>
      </p:sp>
      <p:sp>
        <p:nvSpPr>
          <p:cNvPr id="13" name="Text 11"/>
          <p:cNvSpPr/>
          <p:nvPr/>
        </p:nvSpPr>
        <p:spPr>
          <a:xfrm>
            <a:off x="6446520" y="2697480"/>
            <a:ext cx="4937760" cy="274320"/>
          </a:xfrm>
          <a:prstGeom prst="rect">
            <a:avLst/>
          </a:prstGeom>
          <a:noFill/>
          <a:ln/>
        </p:spPr>
        <p:txBody>
          <a:bodyPr wrap="square" lIns="0" tIns="0" rIns="0" bIns="0" rtlCol="0" anchor="ctr"/>
          <a:lstStyle/>
          <a:p>
            <a:pPr indent="0" marL="0">
              <a:buNone/>
            </a:pPr>
            <a:r>
              <a:rPr lang="en-US" sz="1100" b="1" spc="150" kern="0" dirty="0">
                <a:solidFill>
                  <a:srgbClr val="FFD166"/>
                </a:solidFill>
                <a:latin typeface="Calibri" pitchFamily="34" charset="0"/>
                <a:ea typeface="Calibri" pitchFamily="34" charset="-122"/>
                <a:cs typeface="Calibri" pitchFamily="34" charset="-120"/>
              </a:rPr>
              <a:t>LOS 20 XP ESPECIFICOS DEL MODULO</a:t>
            </a:r>
            <a:endParaRPr lang="en-US" sz="1100" dirty="0"/>
          </a:p>
        </p:txBody>
      </p:sp>
      <p:sp>
        <p:nvSpPr>
          <p:cNvPr id="14" name="Text 12"/>
          <p:cNvSpPr/>
          <p:nvPr/>
        </p:nvSpPr>
        <p:spPr>
          <a:xfrm>
            <a:off x="6446520" y="3035808"/>
            <a:ext cx="4937760" cy="1737360"/>
          </a:xfrm>
          <a:prstGeom prst="rect">
            <a:avLst/>
          </a:prstGeom>
          <a:noFill/>
          <a:ln/>
        </p:spPr>
        <p:txBody>
          <a:bodyPr wrap="square" lIns="0" tIns="0" rIns="0" bIns="0" rtlCol="0" anchor="t"/>
          <a:lstStyle/>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CSR, SSR o SSG argumentado por pagina (6)</a:t>
            </a:r>
            <a:endParaRPr lang="en-US" sz="1150" dirty="0"/>
          </a:p>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La clave de API nunca en el cliente (6)</a:t>
            </a:r>
            <a:endParaRPr lang="en-US" sz="1150" dirty="0"/>
          </a:p>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Frontera servidor/cliente bien trazada (4)</a:t>
            </a:r>
            <a:endParaRPr lang="en-US" sz="1150" dirty="0"/>
          </a:p>
          <a:p>
            <a:pPr marL="342900" indent="-342900">
              <a:lnSpc>
                <a:spcPts val="1553"/>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La salida del modelo se valida (4)</a:t>
            </a:r>
            <a:endParaRPr lang="en-US" sz="1150" dirty="0"/>
          </a:p>
        </p:txBody>
      </p:sp>
      <p:sp>
        <p:nvSpPr>
          <p:cNvPr id="15" name="Shape 13"/>
          <p:cNvSpPr/>
          <p:nvPr/>
        </p:nvSpPr>
        <p:spPr>
          <a:xfrm>
            <a:off x="548640" y="5120640"/>
            <a:ext cx="11064240" cy="777240"/>
          </a:xfrm>
          <a:prstGeom prst="roundRect">
            <a:avLst>
              <a:gd name="adj" fmla="val 10588"/>
            </a:avLst>
          </a:prstGeom>
          <a:solidFill>
            <a:srgbClr val="FFD166"/>
          </a:solidFill>
          <a:ln/>
        </p:spPr>
      </p:sp>
      <p:sp>
        <p:nvSpPr>
          <p:cNvPr id="16" name="Text 14"/>
          <p:cNvSpPr/>
          <p:nvPr/>
        </p:nvSpPr>
        <p:spPr>
          <a:xfrm>
            <a:off x="868680" y="5193792"/>
            <a:ext cx="10424160" cy="630936"/>
          </a:xfrm>
          <a:prstGeom prst="rect">
            <a:avLst/>
          </a:prstGeom>
          <a:noFill/>
          <a:ln/>
        </p:spPr>
        <p:txBody>
          <a:bodyPr wrap="square" lIns="0" tIns="0" rIns="0" bIns="0" rtlCol="0" anchor="ctr"/>
          <a:lstStyle/>
          <a:p>
            <a:pPr indent="0" marL="0">
              <a:lnSpc>
                <a:spcPts val="1688"/>
              </a:lnSpc>
              <a:buNone/>
            </a:pPr>
            <a:r>
              <a:rPr lang="en-US" sz="1250" b="1" dirty="0">
                <a:solidFill>
                  <a:srgbClr val="1A1A2E"/>
                </a:solidFill>
                <a:latin typeface="Calibri" pitchFamily="34" charset="0"/>
                <a:ea typeface="Calibri" pitchFamily="34" charset="-122"/>
                <a:cs typeface="Calibri" pitchFamily="34" charset="-120"/>
              </a:rPr>
              <a:t>MISION SECUNDARIA (+25 XP):  Implementa respuesta en flujo (streaming) para la narracion.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62E"/>
        </a:solidFill>
      </p:bgPr>
    </p:bg>
    <p:spTree>
      <p:nvGrpSpPr>
        <p:cNvPr id="1" name=""/>
        <p:cNvGrpSpPr/>
        <p:nvPr/>
      </p:nvGrpSpPr>
      <p:grpSpPr>
        <a:xfrm>
          <a:off x="0" y="0"/>
          <a:ext cx="0" cy="0"/>
          <a:chOff x="0" y="0"/>
          <a:chExt cx="0" cy="0"/>
        </a:xfrm>
      </p:grpSpPr>
      <p:sp>
        <p:nvSpPr>
          <p:cNvPr id="2" name="Text 0"/>
          <p:cNvSpPr/>
          <p:nvPr/>
        </p:nvSpPr>
        <p:spPr>
          <a:xfrm>
            <a:off x="548640" y="292608"/>
            <a:ext cx="10515600" cy="274320"/>
          </a:xfrm>
          <a:prstGeom prst="rect">
            <a:avLst/>
          </a:prstGeom>
          <a:noFill/>
          <a:ln/>
        </p:spPr>
        <p:txBody>
          <a:bodyPr wrap="square" lIns="0" tIns="0" rIns="0" bIns="0" rtlCol="0" anchor="ctr"/>
          <a:lstStyle/>
          <a:p>
            <a:pPr indent="0" marL="0">
              <a:buNone/>
            </a:pPr>
            <a:r>
              <a:rPr lang="en-US" sz="1100" b="1" spc="200" kern="0" dirty="0">
                <a:solidFill>
                  <a:srgbClr val="FFD166"/>
                </a:solidFill>
                <a:latin typeface="Calibri" pitchFamily="34" charset="0"/>
                <a:ea typeface="Calibri" pitchFamily="34" charset="-122"/>
                <a:cs typeface="Calibri" pitchFamily="34" charset="-120"/>
              </a:rPr>
              <a:t>DOCUMENTACION OFICIAL Y LITERATURA REVISADA POR PARES</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Fuentes de este modulo</a:t>
            </a:r>
            <a:endParaRPr lang="en-US" sz="3000" dirty="0"/>
          </a:p>
        </p:txBody>
      </p:sp>
      <p:sp>
        <p:nvSpPr>
          <p:cNvPr id="4" name="Text 2"/>
          <p:cNvSpPr/>
          <p:nvPr/>
        </p:nvSpPr>
        <p:spPr>
          <a:xfrm>
            <a:off x="548640" y="1481328"/>
            <a:ext cx="5349240" cy="384048"/>
          </a:xfrm>
          <a:prstGeom prst="rect">
            <a:avLst/>
          </a:prstGeom>
          <a:noFill/>
          <a:ln/>
        </p:spPr>
        <p:txBody>
          <a:bodyPr wrap="square" lIns="0" tIns="0" rIns="0" bIns="0" rtlCol="0" anchor="t"/>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Meta · React: Quick Start</a:t>
            </a:r>
            <a:endParaRPr lang="en-US" sz="1150" dirty="0"/>
          </a:p>
        </p:txBody>
      </p:sp>
      <p:sp>
        <p:nvSpPr>
          <p:cNvPr id="5" name="Text 3"/>
          <p:cNvSpPr/>
          <p:nvPr/>
        </p:nvSpPr>
        <p:spPr>
          <a:xfrm>
            <a:off x="548640" y="1847088"/>
            <a:ext cx="5349240" cy="274320"/>
          </a:xfrm>
          <a:prstGeom prst="rect">
            <a:avLst/>
          </a:prstGeom>
          <a:noFill/>
          <a:ln/>
        </p:spPr>
        <p:txBody>
          <a:bodyPr wrap="square" lIns="0" tIns="0" rIns="0" bIns="0" rtlCol="0" anchor="t"/>
          <a:lstStyle/>
          <a:p>
            <a:pPr indent="0" marL="0">
              <a:buNone/>
            </a:pPr>
            <a:r>
              <a:rPr lang="en-US" sz="850" dirty="0">
                <a:solidFill>
                  <a:srgbClr val="4ECDC4"/>
                </a:solidFill>
                <a:latin typeface="Courier New" pitchFamily="34" charset="0"/>
                <a:ea typeface="Courier New" pitchFamily="34" charset="-122"/>
                <a:cs typeface="Courier New" pitchFamily="34" charset="-120"/>
              </a:rPr>
              <a:t>react.dev/learn</a:t>
            </a:r>
            <a:endParaRPr lang="en-US" sz="850" dirty="0"/>
          </a:p>
        </p:txBody>
      </p:sp>
      <p:sp>
        <p:nvSpPr>
          <p:cNvPr id="6" name="Text 4"/>
          <p:cNvSpPr/>
          <p:nvPr/>
        </p:nvSpPr>
        <p:spPr>
          <a:xfrm>
            <a:off x="548640" y="2231136"/>
            <a:ext cx="5349240" cy="384048"/>
          </a:xfrm>
          <a:prstGeom prst="rect">
            <a:avLst/>
          </a:prstGeom>
          <a:noFill/>
          <a:ln/>
        </p:spPr>
        <p:txBody>
          <a:bodyPr wrap="square" lIns="0" tIns="0" rIns="0" bIns="0" rtlCol="0" anchor="t"/>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Meta · Built-in React Hooks</a:t>
            </a:r>
            <a:endParaRPr lang="en-US" sz="1150" dirty="0"/>
          </a:p>
        </p:txBody>
      </p:sp>
      <p:sp>
        <p:nvSpPr>
          <p:cNvPr id="7" name="Text 5"/>
          <p:cNvSpPr/>
          <p:nvPr/>
        </p:nvSpPr>
        <p:spPr>
          <a:xfrm>
            <a:off x="548640" y="2596896"/>
            <a:ext cx="5349240" cy="274320"/>
          </a:xfrm>
          <a:prstGeom prst="rect">
            <a:avLst/>
          </a:prstGeom>
          <a:noFill/>
          <a:ln/>
        </p:spPr>
        <p:txBody>
          <a:bodyPr wrap="square" lIns="0" tIns="0" rIns="0" bIns="0" rtlCol="0" anchor="t"/>
          <a:lstStyle/>
          <a:p>
            <a:pPr indent="0" marL="0">
              <a:buNone/>
            </a:pPr>
            <a:r>
              <a:rPr lang="en-US" sz="850" dirty="0">
                <a:solidFill>
                  <a:srgbClr val="4ECDC4"/>
                </a:solidFill>
                <a:latin typeface="Courier New" pitchFamily="34" charset="0"/>
                <a:ea typeface="Courier New" pitchFamily="34" charset="-122"/>
                <a:cs typeface="Courier New" pitchFamily="34" charset="-120"/>
              </a:rPr>
              <a:t>react.dev/reference/react/hooks</a:t>
            </a:r>
            <a:endParaRPr lang="en-US" sz="850" dirty="0"/>
          </a:p>
        </p:txBody>
      </p:sp>
      <p:sp>
        <p:nvSpPr>
          <p:cNvPr id="8" name="Text 6"/>
          <p:cNvSpPr/>
          <p:nvPr/>
        </p:nvSpPr>
        <p:spPr>
          <a:xfrm>
            <a:off x="548640" y="2980944"/>
            <a:ext cx="5349240" cy="384048"/>
          </a:xfrm>
          <a:prstGeom prst="rect">
            <a:avLst/>
          </a:prstGeom>
          <a:noFill/>
          <a:ln/>
        </p:spPr>
        <p:txBody>
          <a:bodyPr wrap="square" lIns="0" tIns="0" rIns="0" bIns="0" rtlCol="0" anchor="t"/>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Vercel · Next.js App Router: Getting Started</a:t>
            </a:r>
            <a:endParaRPr lang="en-US" sz="1150" dirty="0"/>
          </a:p>
        </p:txBody>
      </p:sp>
      <p:sp>
        <p:nvSpPr>
          <p:cNvPr id="9" name="Text 7"/>
          <p:cNvSpPr/>
          <p:nvPr/>
        </p:nvSpPr>
        <p:spPr>
          <a:xfrm>
            <a:off x="548640" y="3346704"/>
            <a:ext cx="5349240" cy="274320"/>
          </a:xfrm>
          <a:prstGeom prst="rect">
            <a:avLst/>
          </a:prstGeom>
          <a:noFill/>
          <a:ln/>
        </p:spPr>
        <p:txBody>
          <a:bodyPr wrap="square" lIns="0" tIns="0" rIns="0" bIns="0" rtlCol="0" anchor="t"/>
          <a:lstStyle/>
          <a:p>
            <a:pPr indent="0" marL="0">
              <a:buNone/>
            </a:pPr>
            <a:r>
              <a:rPr lang="en-US" sz="850" dirty="0">
                <a:solidFill>
                  <a:srgbClr val="4ECDC4"/>
                </a:solidFill>
                <a:latin typeface="Courier New" pitchFamily="34" charset="0"/>
                <a:ea typeface="Courier New" pitchFamily="34" charset="-122"/>
                <a:cs typeface="Courier New" pitchFamily="34" charset="-120"/>
              </a:rPr>
              <a:t>nextjs.org/docs/app/getting-started</a:t>
            </a:r>
            <a:endParaRPr lang="en-US" sz="850" dirty="0"/>
          </a:p>
        </p:txBody>
      </p:sp>
      <p:sp>
        <p:nvSpPr>
          <p:cNvPr id="10" name="Text 8"/>
          <p:cNvSpPr/>
          <p:nvPr/>
        </p:nvSpPr>
        <p:spPr>
          <a:xfrm>
            <a:off x="6172200" y="1481328"/>
            <a:ext cx="5349240" cy="384048"/>
          </a:xfrm>
          <a:prstGeom prst="rect">
            <a:avLst/>
          </a:prstGeom>
          <a:noFill/>
          <a:ln/>
        </p:spPr>
        <p:txBody>
          <a:bodyPr wrap="square" lIns="0" tIns="0" rIns="0" bIns="0" rtlCol="0" anchor="t"/>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Vercel · Server and Client Components</a:t>
            </a:r>
            <a:endParaRPr lang="en-US" sz="1150" dirty="0"/>
          </a:p>
        </p:txBody>
      </p:sp>
      <p:sp>
        <p:nvSpPr>
          <p:cNvPr id="11" name="Text 9"/>
          <p:cNvSpPr/>
          <p:nvPr/>
        </p:nvSpPr>
        <p:spPr>
          <a:xfrm>
            <a:off x="6172200" y="1847088"/>
            <a:ext cx="5349240" cy="274320"/>
          </a:xfrm>
          <a:prstGeom prst="rect">
            <a:avLst/>
          </a:prstGeom>
          <a:noFill/>
          <a:ln/>
        </p:spPr>
        <p:txBody>
          <a:bodyPr wrap="square" lIns="0" tIns="0" rIns="0" bIns="0" rtlCol="0" anchor="t"/>
          <a:lstStyle/>
          <a:p>
            <a:pPr indent="0" marL="0">
              <a:buNone/>
            </a:pPr>
            <a:r>
              <a:rPr lang="en-US" sz="850" dirty="0">
                <a:solidFill>
                  <a:srgbClr val="4ECDC4"/>
                </a:solidFill>
                <a:latin typeface="Courier New" pitchFamily="34" charset="0"/>
                <a:ea typeface="Courier New" pitchFamily="34" charset="-122"/>
                <a:cs typeface="Courier New" pitchFamily="34" charset="-120"/>
              </a:rPr>
              <a:t>nextjs.org/docs/app/getting-started/server-and-client-components</a:t>
            </a:r>
            <a:endParaRPr lang="en-US" sz="850" dirty="0"/>
          </a:p>
        </p:txBody>
      </p:sp>
      <p:sp>
        <p:nvSpPr>
          <p:cNvPr id="12" name="Text 10"/>
          <p:cNvSpPr/>
          <p:nvPr/>
        </p:nvSpPr>
        <p:spPr>
          <a:xfrm>
            <a:off x="6172200" y="2231136"/>
            <a:ext cx="5349240" cy="384048"/>
          </a:xfrm>
          <a:prstGeom prst="rect">
            <a:avLst/>
          </a:prstGeom>
          <a:noFill/>
          <a:ln/>
        </p:spPr>
        <p:txBody>
          <a:bodyPr wrap="square" lIns="0" tIns="0" rIns="0" bIns="0" rtlCol="0" anchor="t"/>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OWASP · OWASP Top Ten</a:t>
            </a:r>
            <a:endParaRPr lang="en-US" sz="1150" dirty="0"/>
          </a:p>
        </p:txBody>
      </p:sp>
      <p:sp>
        <p:nvSpPr>
          <p:cNvPr id="13" name="Text 11"/>
          <p:cNvSpPr/>
          <p:nvPr/>
        </p:nvSpPr>
        <p:spPr>
          <a:xfrm>
            <a:off x="6172200" y="2596896"/>
            <a:ext cx="5349240" cy="274320"/>
          </a:xfrm>
          <a:prstGeom prst="rect">
            <a:avLst/>
          </a:prstGeom>
          <a:noFill/>
          <a:ln/>
        </p:spPr>
        <p:txBody>
          <a:bodyPr wrap="square" lIns="0" tIns="0" rIns="0" bIns="0" rtlCol="0" anchor="t"/>
          <a:lstStyle/>
          <a:p>
            <a:pPr indent="0" marL="0">
              <a:buNone/>
            </a:pPr>
            <a:r>
              <a:rPr lang="en-US" sz="850" dirty="0">
                <a:solidFill>
                  <a:srgbClr val="4ECDC4"/>
                </a:solidFill>
                <a:latin typeface="Courier New" pitchFamily="34" charset="0"/>
                <a:ea typeface="Courier New" pitchFamily="34" charset="-122"/>
                <a:cs typeface="Courier New" pitchFamily="34" charset="-120"/>
              </a:rPr>
              <a:t>owasp.org/www-project-top-ten/</a:t>
            </a:r>
            <a:endParaRPr lang="en-US" sz="850" dirty="0"/>
          </a:p>
        </p:txBody>
      </p:sp>
      <p:sp>
        <p:nvSpPr>
          <p:cNvPr id="14" name="Text 12"/>
          <p:cNvSpPr/>
          <p:nvPr/>
        </p:nvSpPr>
        <p:spPr>
          <a:xfrm>
            <a:off x="6172200" y="2980944"/>
            <a:ext cx="5349240" cy="384048"/>
          </a:xfrm>
          <a:prstGeom prst="rect">
            <a:avLst/>
          </a:prstGeom>
          <a:noFill/>
          <a:ln/>
        </p:spPr>
        <p:txBody>
          <a:bodyPr wrap="square" lIns="0" tIns="0" rIns="0" bIns="0" rtlCol="0" anchor="t"/>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Prather et al. (2024) · The widening gap. ICER '24, 469-486</a:t>
            </a:r>
            <a:endParaRPr lang="en-US" sz="1150" dirty="0"/>
          </a:p>
        </p:txBody>
      </p:sp>
      <p:sp>
        <p:nvSpPr>
          <p:cNvPr id="15" name="Text 13"/>
          <p:cNvSpPr/>
          <p:nvPr/>
        </p:nvSpPr>
        <p:spPr>
          <a:xfrm>
            <a:off x="6172200" y="3346704"/>
            <a:ext cx="5349240" cy="274320"/>
          </a:xfrm>
          <a:prstGeom prst="rect">
            <a:avLst/>
          </a:prstGeom>
          <a:noFill/>
          <a:ln/>
        </p:spPr>
        <p:txBody>
          <a:bodyPr wrap="square" lIns="0" tIns="0" rIns="0" bIns="0" rtlCol="0" anchor="t"/>
          <a:lstStyle/>
          <a:p>
            <a:pPr indent="0" marL="0">
              <a:buNone/>
            </a:pPr>
            <a:r>
              <a:rPr lang="en-US" sz="850" dirty="0">
                <a:solidFill>
                  <a:srgbClr val="4ECDC4"/>
                </a:solidFill>
                <a:latin typeface="Courier New" pitchFamily="34" charset="0"/>
                <a:ea typeface="Courier New" pitchFamily="34" charset="-122"/>
                <a:cs typeface="Courier New" pitchFamily="34" charset="-120"/>
              </a:rPr>
              <a:t>doi.org/10.1145/3632620.3671116</a:t>
            </a:r>
            <a:endParaRPr lang="en-US" sz="850" dirty="0"/>
          </a:p>
        </p:txBody>
      </p:sp>
      <p:sp>
        <p:nvSpPr>
          <p:cNvPr id="16" name="Text 14"/>
          <p:cNvSpPr/>
          <p:nvPr/>
        </p:nvSpPr>
        <p:spPr>
          <a:xfrm>
            <a:off x="548640" y="5989320"/>
            <a:ext cx="11064240" cy="274320"/>
          </a:xfrm>
          <a:prstGeom prst="rect">
            <a:avLst/>
          </a:prstGeom>
          <a:noFill/>
          <a:ln/>
        </p:spPr>
        <p:txBody>
          <a:bodyPr wrap="square" lIns="0" tIns="0" rIns="0" bIns="0" rtlCol="0" anchor="ctr"/>
          <a:lstStyle/>
          <a:p>
            <a:pPr indent="0" marL="0">
              <a:buNone/>
            </a:pPr>
            <a:r>
              <a:rPr lang="en-US" sz="950" i="1" dirty="0">
                <a:solidFill>
                  <a:srgbClr val="8A8AA3"/>
                </a:solidFill>
                <a:latin typeface="Calibri" pitchFamily="34" charset="0"/>
                <a:ea typeface="Calibri" pitchFamily="34" charset="-122"/>
                <a:cs typeface="Calibri" pitchFamily="34" charset="-120"/>
              </a:rPr>
              <a:t>Todos los enlaces y DOI verificados el 4 de agosto de 2026.</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62E"/>
        </a:solidFill>
      </p:bgPr>
    </p:bg>
    <p:spTree>
      <p:nvGrpSpPr>
        <p:cNvPr id="1" name=""/>
        <p:cNvGrpSpPr/>
        <p:nvPr/>
      </p:nvGrpSpPr>
      <p:grpSpPr>
        <a:xfrm>
          <a:off x="0" y="0"/>
          <a:ext cx="0" cy="0"/>
          <a:chOff x="0" y="0"/>
          <a:chExt cx="0" cy="0"/>
        </a:xfrm>
      </p:grpSpPr>
      <p:sp>
        <p:nvSpPr>
          <p:cNvPr id="2" name="Text 0"/>
          <p:cNvSpPr/>
          <p:nvPr/>
        </p:nvSpPr>
        <p:spPr>
          <a:xfrm>
            <a:off x="548640" y="685800"/>
            <a:ext cx="105156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Para la proxima sesion</a:t>
            </a:r>
            <a:endParaRPr lang="en-US" sz="3400" dirty="0"/>
          </a:p>
        </p:txBody>
      </p:sp>
      <p:sp>
        <p:nvSpPr>
          <p:cNvPr id="3" name="Shape 1"/>
          <p:cNvSpPr/>
          <p:nvPr/>
        </p:nvSpPr>
        <p:spPr>
          <a:xfrm>
            <a:off x="548640" y="1691640"/>
            <a:ext cx="5349240" cy="2286000"/>
          </a:xfrm>
          <a:prstGeom prst="roundRect">
            <a:avLst>
              <a:gd name="adj" fmla="val 4800"/>
            </a:avLst>
          </a:prstGeom>
          <a:solidFill>
            <a:srgbClr val="FF4D6D"/>
          </a:solidFill>
          <a:ln/>
        </p:spPr>
      </p:sp>
      <p:sp>
        <p:nvSpPr>
          <p:cNvPr id="4" name="Text 2"/>
          <p:cNvSpPr/>
          <p:nvPr/>
        </p:nvSpPr>
        <p:spPr>
          <a:xfrm>
            <a:off x="822960" y="1874520"/>
            <a:ext cx="4800600" cy="32004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TU ENTREGA</a:t>
            </a:r>
            <a:endParaRPr lang="en-US" sz="1200" dirty="0"/>
          </a:p>
        </p:txBody>
      </p:sp>
      <p:sp>
        <p:nvSpPr>
          <p:cNvPr id="5" name="Text 3"/>
          <p:cNvSpPr/>
          <p:nvPr/>
        </p:nvSpPr>
        <p:spPr>
          <a:xfrm>
            <a:off x="822960" y="2286000"/>
            <a:ext cx="4800600" cy="1554480"/>
          </a:xfrm>
          <a:prstGeom prst="rect">
            <a:avLst/>
          </a:prstGeom>
          <a:noFill/>
          <a:ln/>
        </p:spPr>
        <p:txBody>
          <a:bodyPr wrap="square" lIns="0" tIns="0" rIns="0" bIns="0" rtlCol="0" anchor="t"/>
          <a:lstStyle/>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Mision 06 en la sesion 14, Mision 07 en la sesion 16.</a:t>
            </a:r>
            <a:endParaRPr lang="en-US" sz="1350" dirty="0"/>
          </a:p>
          <a:p>
            <a:pPr indent="0" marL="0">
              <a:lnSpc>
                <a:spcPts val="2000"/>
              </a:lnSpc>
              <a:buNone/>
            </a:pPr>
            <a:endParaRPr lang="en-US" sz="1350" dirty="0"/>
          </a:p>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La 07 ya usa lo del modulo 5.</a:t>
            </a:r>
            <a:endParaRPr lang="en-US" sz="1350" dirty="0"/>
          </a:p>
        </p:txBody>
      </p:sp>
      <p:sp>
        <p:nvSpPr>
          <p:cNvPr id="6" name="Shape 4"/>
          <p:cNvSpPr/>
          <p:nvPr/>
        </p:nvSpPr>
        <p:spPr>
          <a:xfrm>
            <a:off x="6172200" y="1691640"/>
            <a:ext cx="5349240" cy="2286000"/>
          </a:xfrm>
          <a:prstGeom prst="roundRect">
            <a:avLst>
              <a:gd name="adj" fmla="val 4800"/>
            </a:avLst>
          </a:prstGeom>
          <a:solidFill>
            <a:srgbClr val="4ECDC4"/>
          </a:solidFill>
          <a:ln/>
        </p:spPr>
      </p:sp>
      <p:sp>
        <p:nvSpPr>
          <p:cNvPr id="7" name="Text 5"/>
          <p:cNvSpPr/>
          <p:nvPr/>
        </p:nvSpPr>
        <p:spPr>
          <a:xfrm>
            <a:off x="6446520" y="1874520"/>
            <a:ext cx="4800600" cy="320040"/>
          </a:xfrm>
          <a:prstGeom prst="rect">
            <a:avLst/>
          </a:prstGeom>
          <a:noFill/>
          <a:ln/>
        </p:spPr>
        <p:txBody>
          <a:bodyPr wrap="square" lIns="0" tIns="0" rIns="0" bIns="0" rtlCol="0" anchor="ctr"/>
          <a:lstStyle/>
          <a:p>
            <a:pPr indent="0" marL="0">
              <a:buNone/>
            </a:pPr>
            <a:r>
              <a:rPr lang="en-US" sz="1200" b="1" spc="200" kern="0" dirty="0">
                <a:solidFill>
                  <a:srgbClr val="1A1A2E"/>
                </a:solidFill>
                <a:latin typeface="Calibri" pitchFamily="34" charset="0"/>
                <a:ea typeface="Calibri" pitchFamily="34" charset="-122"/>
                <a:cs typeface="Calibri" pitchFamily="34" charset="-120"/>
              </a:rPr>
              <a:t>QUE VIENE</a:t>
            </a:r>
            <a:endParaRPr lang="en-US" sz="1200" dirty="0"/>
          </a:p>
        </p:txBody>
      </p:sp>
      <p:sp>
        <p:nvSpPr>
          <p:cNvPr id="8" name="Text 6"/>
          <p:cNvSpPr/>
          <p:nvPr/>
        </p:nvSpPr>
        <p:spPr>
          <a:xfrm>
            <a:off x="6446520" y="2286000"/>
            <a:ext cx="4800600" cy="1554480"/>
          </a:xfrm>
          <a:prstGeom prst="rect">
            <a:avLst/>
          </a:prstGeom>
          <a:noFill/>
          <a:ln/>
        </p:spPr>
        <p:txBody>
          <a:bodyPr wrap="square" lIns="0" tIns="0" rIns="0" bIns="0" rtlCol="0" anchor="t"/>
          <a:lstStyle/>
          <a:p>
            <a:pPr indent="0" marL="0">
              <a:lnSpc>
                <a:spcPts val="2000"/>
              </a:lnSpc>
              <a:buNone/>
            </a:pPr>
            <a:r>
              <a:rPr lang="en-US" sz="1350" dirty="0">
                <a:solidFill>
                  <a:srgbClr val="1A1A2E"/>
                </a:solidFill>
                <a:latin typeface="Calibri" pitchFamily="34" charset="0"/>
                <a:ea typeface="Calibri" pitchFamily="34" charset="-122"/>
                <a:cs typeface="Calibri" pitchFamily="34" charset="-120"/>
              </a:rPr>
              <a:t>Modulo 5 — Git avanzado, despliegue y proyecto final.</a:t>
            </a:r>
            <a:endParaRPr lang="en-US" sz="1350" dirty="0"/>
          </a:p>
          <a:p>
            <a:pPr indent="0" marL="0">
              <a:lnSpc>
                <a:spcPts val="2000"/>
              </a:lnSpc>
              <a:buNone/>
            </a:pPr>
            <a:endParaRPr lang="en-US" sz="1350" dirty="0"/>
          </a:p>
          <a:p>
            <a:pPr indent="0" marL="0">
              <a:lnSpc>
                <a:spcPts val="2000"/>
              </a:lnSpc>
              <a:buNone/>
            </a:pPr>
            <a:r>
              <a:rPr lang="en-US" sz="1350" dirty="0">
                <a:solidFill>
                  <a:srgbClr val="1A1A2E"/>
                </a:solidFill>
                <a:latin typeface="Calibri" pitchFamily="34" charset="0"/>
                <a:ea typeface="Calibri" pitchFamily="34" charset="-122"/>
                <a:cs typeface="Calibri" pitchFamily="34" charset="-120"/>
              </a:rPr>
              <a:t>Lo que separa a alguien que programa de alguien contratable.</a:t>
            </a:r>
            <a:endParaRPr lang="en-US" sz="1350" dirty="0"/>
          </a:p>
        </p:txBody>
      </p:sp>
      <p:sp>
        <p:nvSpPr>
          <p:cNvPr id="9" name="Shape 7"/>
          <p:cNvSpPr/>
          <p:nvPr/>
        </p:nvSpPr>
        <p:spPr>
          <a:xfrm>
            <a:off x="548640" y="4297680"/>
            <a:ext cx="11064240" cy="868680"/>
          </a:xfrm>
          <a:prstGeom prst="roundRect">
            <a:avLst>
              <a:gd name="adj" fmla="val 9474"/>
            </a:avLst>
          </a:prstGeom>
          <a:solidFill>
            <a:srgbClr val="FFD166"/>
          </a:solidFill>
          <a:ln/>
        </p:spPr>
      </p:sp>
      <p:sp>
        <p:nvSpPr>
          <p:cNvPr id="10" name="Text 8"/>
          <p:cNvSpPr/>
          <p:nvPr/>
        </p:nvSpPr>
        <p:spPr>
          <a:xfrm>
            <a:off x="868680" y="4370832"/>
            <a:ext cx="10424160" cy="722376"/>
          </a:xfrm>
          <a:prstGeom prst="rect">
            <a:avLst/>
          </a:prstGeom>
          <a:noFill/>
          <a:ln/>
        </p:spPr>
        <p:txBody>
          <a:bodyPr wrap="square" lIns="0" tIns="0" rIns="0" bIns="0" rtlCol="0" anchor="ctr"/>
          <a:lstStyle/>
          <a:p>
            <a:pPr indent="0" marL="0">
              <a:lnSpc>
                <a:spcPts val="1688"/>
              </a:lnSpc>
              <a:buNone/>
            </a:pPr>
            <a:r>
              <a:rPr lang="en-US" sz="1250" b="1" dirty="0">
                <a:solidFill>
                  <a:srgbClr val="1A1A2E"/>
                </a:solidFill>
                <a:latin typeface="Calibri" pitchFamily="34" charset="0"/>
                <a:ea typeface="Calibri" pitchFamily="34" charset="-122"/>
                <a:cs typeface="Calibri" pitchFamily="34" charset="-120"/>
              </a:rPr>
              <a:t>Empieza a pensar en tu equipo de tres y en el tema del proyecto final: se define en la sesion 16.</a:t>
            </a:r>
            <a:endParaRPr lang="en-US" sz="1250" dirty="0"/>
          </a:p>
        </p:txBody>
      </p:sp>
      <p:sp>
        <p:nvSpPr>
          <p:cNvPr id="11" name="Text 9"/>
          <p:cNvSpPr/>
          <p:nvPr/>
        </p:nvSpPr>
        <p:spPr>
          <a:xfrm>
            <a:off x="548640" y="5394960"/>
            <a:ext cx="11064240" cy="365760"/>
          </a:xfrm>
          <a:prstGeom prst="rect">
            <a:avLst/>
          </a:prstGeom>
          <a:noFill/>
          <a:ln/>
        </p:spPr>
        <p:txBody>
          <a:bodyPr wrap="square" lIns="0" tIns="0" rIns="0" bIns="0" rtlCol="0" anchor="ctr"/>
          <a:lstStyle/>
          <a:p>
            <a:pPr algn="ctr" indent="0" marL="0">
              <a:buNone/>
            </a:pPr>
            <a:r>
              <a:rPr lang="en-US" sz="1150" i="1" dirty="0">
                <a:solidFill>
                  <a:srgbClr val="8A8AA3"/>
                </a:solidFill>
                <a:latin typeface="Calibri" pitchFamily="34" charset="0"/>
                <a:ea typeface="Calibri" pitchFamily="34" charset="-122"/>
                <a:cs typeface="Calibri" pitchFamily="34" charset="-120"/>
              </a:rPr>
              <a:t>Recuerda: todo codigo de IA se declara en IA.md. Sin declarar = 0 y sin reintento.</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Programacion Web 1 - 235G8F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Universidad de Caldas</dc:creator>
  <cp:lastModifiedBy>Universidad de Caldas</cp:lastModifiedBy>
  <cp:revision>1</cp:revision>
  <dcterms:created xsi:type="dcterms:W3CDTF">2026-08-04T19:44:43Z</dcterms:created>
  <dcterms:modified xsi:type="dcterms:W3CDTF">2026-08-04T19:44:43Z</dcterms:modified>
</cp:coreProperties>
</file>